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01e360f24f49a7" /><Relationship Type="http://schemas.openxmlformats.org/officeDocument/2006/relationships/extended-properties" Target="/docProps/app.xml" Id="R3ac62439b4a24939" /><Relationship Type="http://schemas.openxmlformats.org/officeDocument/2006/relationships/officeDocument" Target="/ppt/presentation.xml" Id="Rc22cfa85ff0943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7900e7ad714f9a"/>
  </p:sldMasterIdLst>
  <p:notesMasterIdLst>
    <p:notesMasterId xmlns:r="http://schemas.openxmlformats.org/officeDocument/2006/relationships" r:id="R5e07eda6ae134c11"/>
  </p:notesMasterIdLst>
  <p:sldIdLst>
    <p:sldId xmlns:r="http://schemas.openxmlformats.org/officeDocument/2006/relationships" id="256" r:id="Ra450ed75a9204e0a"/>
    <p:sldId xmlns:r="http://schemas.openxmlformats.org/officeDocument/2006/relationships" id="257" r:id="R496540fe2cad41ec"/>
    <p:sldId xmlns:r="http://schemas.openxmlformats.org/officeDocument/2006/relationships" id="258" r:id="Rf793cd2eb0d442de"/>
    <p:sldId xmlns:r="http://schemas.openxmlformats.org/officeDocument/2006/relationships" id="259" r:id="R6e38e2c5b5014a32"/>
    <p:sldId xmlns:r="http://schemas.openxmlformats.org/officeDocument/2006/relationships" id="260" r:id="R8d2c3110d2b149b7"/>
    <p:sldId xmlns:r="http://schemas.openxmlformats.org/officeDocument/2006/relationships" id="261" r:id="Rcd00c46d48024eac"/>
    <p:sldId xmlns:r="http://schemas.openxmlformats.org/officeDocument/2006/relationships" id="262" r:id="Rb252d0173da94b42"/>
    <p:sldId xmlns:r="http://schemas.openxmlformats.org/officeDocument/2006/relationships" id="263" r:id="R71b1ea3e1f36497d"/>
    <p:sldId xmlns:r="http://schemas.openxmlformats.org/officeDocument/2006/relationships" id="264" r:id="Rd9195a38535e4d0f"/>
    <p:sldId xmlns:r="http://schemas.openxmlformats.org/officeDocument/2006/relationships" id="265" r:id="R9240f771fd914538"/>
    <p:sldId xmlns:r="http://schemas.openxmlformats.org/officeDocument/2006/relationships" id="266" r:id="R483ea08345c6478a"/>
    <p:sldId xmlns:r="http://schemas.openxmlformats.org/officeDocument/2006/relationships" id="267" r:id="R44878e4d2f7e4def"/>
    <p:sldId xmlns:r="http://schemas.openxmlformats.org/officeDocument/2006/relationships" id="268" r:id="Re4ecf6ee4f8b4487"/>
    <p:sldId xmlns:r="http://schemas.openxmlformats.org/officeDocument/2006/relationships" id="269" r:id="Re7a1d5013b5245aa"/>
    <p:sldId xmlns:r="http://schemas.openxmlformats.org/officeDocument/2006/relationships" id="270" r:id="R8f7bb093f4cd4c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ca7d9f14dd4a63" /><Relationship Type="http://schemas.openxmlformats.org/officeDocument/2006/relationships/slideMaster" Target="/ppt/slideMasters/slideMaster1.xml" Id="R027900e7ad714f9a" /><Relationship Type="http://schemas.openxmlformats.org/officeDocument/2006/relationships/notesMaster" Target="/ppt/notesMasters/notesMaster1.xml" Id="R5e07eda6ae134c11" /><Relationship Type="http://schemas.openxmlformats.org/officeDocument/2006/relationships/presProps" Target="/ppt/presProps.xml" Id="Reccd1d063bb847a5" /><Relationship Type="http://schemas.openxmlformats.org/officeDocument/2006/relationships/viewProps" Target="/ppt/viewProps.xml" Id="R5d12d59feb3644be" /><Relationship Type="http://schemas.openxmlformats.org/officeDocument/2006/relationships/tableStyles" Target="/ppt/tableStyles.xml" Id="Rbef14ca32dd544b0" /><Relationship Type="http://schemas.openxmlformats.org/officeDocument/2006/relationships/slide" Target="/ppt/slides/slide1.xml" Id="Ra450ed75a9204e0a" /><Relationship Type="http://schemas.openxmlformats.org/officeDocument/2006/relationships/slide" Target="/ppt/slides/slide2.xml" Id="R496540fe2cad41ec" /><Relationship Type="http://schemas.openxmlformats.org/officeDocument/2006/relationships/slide" Target="/ppt/slides/slide3.xml" Id="Rf793cd2eb0d442de" /><Relationship Type="http://schemas.openxmlformats.org/officeDocument/2006/relationships/slide" Target="/ppt/slides/slide4.xml" Id="R6e38e2c5b5014a32" /><Relationship Type="http://schemas.openxmlformats.org/officeDocument/2006/relationships/slide" Target="/ppt/slides/slide5.xml" Id="R8d2c3110d2b149b7" /><Relationship Type="http://schemas.openxmlformats.org/officeDocument/2006/relationships/slide" Target="/ppt/slides/slide6.xml" Id="Rcd00c46d48024eac" /><Relationship Type="http://schemas.openxmlformats.org/officeDocument/2006/relationships/slide" Target="/ppt/slides/slide7.xml" Id="Rb252d0173da94b42" /><Relationship Type="http://schemas.openxmlformats.org/officeDocument/2006/relationships/slide" Target="/ppt/slides/slide8.xml" Id="R71b1ea3e1f36497d" /><Relationship Type="http://schemas.openxmlformats.org/officeDocument/2006/relationships/slide" Target="/ppt/slides/slide9.xml" Id="Rd9195a38535e4d0f" /><Relationship Type="http://schemas.openxmlformats.org/officeDocument/2006/relationships/slide" Target="/ppt/slides/slide10.xml" Id="R9240f771fd914538" /><Relationship Type="http://schemas.openxmlformats.org/officeDocument/2006/relationships/slide" Target="/ppt/slides/slide11.xml" Id="R483ea08345c6478a" /><Relationship Type="http://schemas.openxmlformats.org/officeDocument/2006/relationships/slide" Target="/ppt/slides/slide12.xml" Id="R44878e4d2f7e4def" /><Relationship Type="http://schemas.openxmlformats.org/officeDocument/2006/relationships/slide" Target="/ppt/slides/slide13.xml" Id="Re4ecf6ee4f8b4487" /><Relationship Type="http://schemas.openxmlformats.org/officeDocument/2006/relationships/slide" Target="/ppt/slides/slide14.xml" Id="Re7a1d5013b5245aa" /><Relationship Type="http://schemas.openxmlformats.org/officeDocument/2006/relationships/slide" Target="/ppt/slides/slide15.xml" Id="R8f7bb093f4cd4c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268ae17dc043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6f01a5bddc4b11" /><Relationship Type="http://schemas.openxmlformats.org/officeDocument/2006/relationships/notesMaster" Target="/ppt/notesMasters/notesMaster1.xml" Id="Ra3de241bbc2341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244bbe97f141d9" /><Relationship Type="http://schemas.openxmlformats.org/officeDocument/2006/relationships/notesMaster" Target="/ppt/notesMasters/notesMaster1.xml" Id="Rc0106d5bc5ec4c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f7d75847c34936" /><Relationship Type="http://schemas.openxmlformats.org/officeDocument/2006/relationships/notesMaster" Target="/ppt/notesMasters/notesMaster1.xml" Id="Rd05dd709b27b46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e7b038bbd045ca" /><Relationship Type="http://schemas.openxmlformats.org/officeDocument/2006/relationships/notesMaster" Target="/ppt/notesMasters/notesMaster1.xml" Id="Rb2adc35d1a1c41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8b914891614192" /><Relationship Type="http://schemas.openxmlformats.org/officeDocument/2006/relationships/notesMaster" Target="/ppt/notesMasters/notesMaster1.xml" Id="R39f171d220eb44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85d1c757994039" /><Relationship Type="http://schemas.openxmlformats.org/officeDocument/2006/relationships/notesMaster" Target="/ppt/notesMasters/notesMaster1.xml" Id="Radc4cf2e0c4243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13a63464854282" /><Relationship Type="http://schemas.openxmlformats.org/officeDocument/2006/relationships/notesMaster" Target="/ppt/notesMasters/notesMaster1.xml" Id="Ra5aa45996aec4d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3cd0e9a3f64f57" /><Relationship Type="http://schemas.openxmlformats.org/officeDocument/2006/relationships/notesMaster" Target="/ppt/notesMasters/notesMaster1.xml" Id="Ra0c7624dfc2943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9a9fecd0514e40" /><Relationship Type="http://schemas.openxmlformats.org/officeDocument/2006/relationships/notesMaster" Target="/ppt/notesMasters/notesMaster1.xml" Id="Rbecbdcb8b21244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bac75c96814483" /><Relationship Type="http://schemas.openxmlformats.org/officeDocument/2006/relationships/notesMaster" Target="/ppt/notesMasters/notesMaster1.xml" Id="R68f804a8b3ba4b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40a60ccc50425e" /><Relationship Type="http://schemas.openxmlformats.org/officeDocument/2006/relationships/notesMaster" Target="/ppt/notesMasters/notesMaster1.xml" Id="R579b4558bc104e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1760ab312b48bc" /><Relationship Type="http://schemas.openxmlformats.org/officeDocument/2006/relationships/notesMaster" Target="/ppt/notesMasters/notesMaster1.xml" Id="Rd665b73aff124d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e90bb88b134d3b" /><Relationship Type="http://schemas.openxmlformats.org/officeDocument/2006/relationships/notesMaster" Target="/ppt/notesMasters/notesMaster1.xml" Id="R6b6bffc2460340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db8c2d899248eb" /><Relationship Type="http://schemas.openxmlformats.org/officeDocument/2006/relationships/notesMaster" Target="/ppt/notesMasters/notesMaster1.xml" Id="Rea2e8960d5b24c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61b05791a44e85" /><Relationship Type="http://schemas.openxmlformats.org/officeDocument/2006/relationships/notesMaster" Target="/ppt/notesMasters/notesMaster1.xml" Id="Re7d0b31850e342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Notes del docent: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Presenta la unitat com un laboratori: l’alumnat instal·larà, configurarà, construirà i compararà dos IDE.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[Sources]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- Material local ED UP1: docs/daw-ed/up1/01-entorn.md a 07-comparacio.md.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- Criteris RA2: docs/daw-ed/up1/index.md.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[/Sources]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L’índex anuncia la progressió: primer el mapa mental, després el laboratori i finalment la comparació argumentada.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Pregunta inicial: on detectaries un error si l’editor funciona però el JAR no es genera?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No cal declarar un guanyador universal: la selecció depén del projecte, el nivell d’integració i la necessitat de personalització.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Insistix en la diferència entre tindre la interfície instal·lada i tindre tot el toolchain verificat.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Demana una demostració reversible: activar una extensió, comprovar què aporta i desactivar-la per observar el canvi.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Relaciona la personalització amb la qualitat del procés: si una altra persona pot repetir-lo, l’automatització aporta valor.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RA2.d es demostra configurant el sistema d’actualització i documentant la comprovació posterior.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Mostra el recorregut complet i demana que l’alumnat assenyale on es produeix cada evidència.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Kotlin apareix només com a llenguatge complementari per fer observable RA2.e. La resta del projecte de la UP1 usa Java i Maven.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Remarca les variables que han de mantindre’s iguals: font, dependències, JDK, ordre de construcció i artefacte.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Fes que l’alumnat justifique una elecció per a un projecte concret: no hi ha una única resposta correcta fora del context.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Usa els errors com una llista de control abans de lliurar les evidències.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Connecta directament amb les tres activitats de la UP1: instal·lació, configuració i construcció/comparació.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del docent:</a:t>
            </a:r>
          </a:p>
          <a:p xmlns:a="http://schemas.openxmlformats.org/drawingml/2006/main">
            <a:r>
              <a:t>Tanca recuperant la pregunta del laboratori i demana una resposta breu abans de passar a la pràctica.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Material local ED UP1: docs/daw-ed/up1/01-entorn.md a 07-comparacio.md.</a:t>
            </a:r>
          </a:p>
          <a:p xmlns:a="http://schemas.openxmlformats.org/drawingml/2006/main">
            <a:r>
              <a:t>- Criteris RA2: docs/daw-ed/up1/index.md.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efbcf072645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d274d05a449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425daa1e448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54160832ed4d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658072d0f4f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ded0c74b94e4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0a6638991498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4b3dd4e8d484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e9ab2b7b954c3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d4f0b0a594d8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0a7c0d8fd4bd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39f1c63214d2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7c6f666284cb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D1C6D1-2549-4D42-8984-5213D4C3835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9AE6737-A9DA-4AB2-96E9-76A78D658D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6FA7D2-3621-4427-9C80-1545CDA541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C5E26C-7DE2-41FD-963D-AF8A2A6C17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5CDDB9-0037-49BC-9689-B00EAD520D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64DB09-A32F-4866-A1FA-F3D60AB733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0EEBAE-3D09-4933-905E-38F1566E54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D87206-F2D5-4CFC-A7D1-71A12FBAC1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755AD1-9144-4C4F-9DE3-D098B3B563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54FA00-C77F-4919-A5E5-F20B585C78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871F66-35D4-4636-A661-AA4EDF42A5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D3B52C2-D423-4375-BFDF-968EC52202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B213444-A512-4FE2-822C-296EB28936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CC312E-B83B-464E-8582-CD06E23269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CF5D05-F58E-4744-9F56-F82DB089CC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235B2B-A71D-4EB5-91DA-9613F3B6C3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659E47C-D0C9-4F8E-B26B-1453D74567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A3C4906-605F-4BF0-ABF4-7513338DC9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65FE274-136A-4F1C-86FA-58BD9CECEE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C199C6A-0455-410F-8A5A-A10A8E59EB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C2D0666-3643-463B-8C78-A9280AF823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DA586-A9D7-4FF5-A3A1-79F56A2E63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FB698D-3891-45C4-AFBF-0BF7087B88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C1D9DE8-4E3F-4E0A-A681-9B6FADEBF96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0D93BB2-E6C4-4BBE-A3EB-2E12A47C327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DA8ABD4-A2F0-4707-8B16-A580D7D136F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0F644C7-E2B1-4A20-8930-615D9BEABE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D0991B0-7A04-4A25-8C99-75F430C966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DE117A-4274-4E82-9437-C39C310216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11987E-A43D-4E05-9F58-14C9BAAADE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2B16495-D5A5-4973-BC06-DF4107B18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410B27B-8145-40A6-8583-199D345DC6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C6C9EE2-A1F5-4A13-A7EA-AEAA71BB47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FF798D8-3770-41EB-93C5-0DD25B16C8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DE06FA1-0E97-4EED-AFCD-A12AE7E474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61BC64D-C645-46E3-9C10-2504B673F1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ADD5EE-53F7-41DD-9D1D-02FC43B48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7E7358-562B-4421-A0FA-609E524370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5AC8D25-F34E-4856-8525-18B5D5FF00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0CBD3D1-CAAA-4EE7-8DF6-645009B591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8D6CA9E-8517-404B-A5F8-D09D9938D0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25C52BC-2096-4ED9-A4F8-F664CB40A6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F2746F-85A3-4E24-BE2A-86CEF59F8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3840A3E-3463-4009-B2BC-6AFB0F1A2F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8BC8A34-F069-49F9-965F-4AAFE37583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171DBB-D490-4B3E-A8BA-D2871E0EAE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D8CFFBD-6F3A-4A72-8770-03A38A6FB1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FC09AEA-C1F5-4256-B889-CE54570CE1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D475BB-D214-4AF9-9690-90E4FCA1A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58289F2-D398-4A74-86E4-4CF82DF45E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DAFBA3-A249-4E5B-9F3A-24A7E2C984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A7FC6B-3AE5-4F04-BD02-D3D1361083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F7272C-D0B1-4ABF-BD00-2A64D8FC95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43085A4-2993-45A6-AFB4-0516A0F40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460D16-4DFE-4833-8787-2DE9A70F54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C1CA79-BBE8-4256-9846-ABF4B3FB9B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8453A41-5453-4E68-B395-5EB4D6B2C3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943211-E0B5-4D23-8E6A-196AA3D700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Diapositiva de título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F6350BB-6DCA-4E37-9BD5-029ED35659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3880" y="1122480"/>
            <a:ext cx="9143640" cy="238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algn="ctr" defTabSz="914400">
              <a:lnSpc>
                <a:spcPct val="90000"/>
              </a:lnSpc>
              <a:buNone/>
            </a:pPr>
            <a:r>
              <a:rPr sz="60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Haga clic para modificar el estilo de título del patrón</a:t>
            </a:r>
            <a:endParaRPr sz="60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BF80300-36FA-42CE-8780-E4684C2FBA88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838080" y="6356520"/>
            <a:ext cx="274284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 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8A2DA57-EBBA-4402-B3DA-9305328D884A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4038480" y="6356520"/>
            <a:ext cx="411444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5E733A1-039C-4BA1-8E38-3B6337AC0C89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8610480" y="6356520"/>
            <a:ext cx="274284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r" defTabSz="914400">
              <a:lnSpc>
                <a:spcPct val="100000"/>
              </a:lnSpc>
              <a:buNone/>
            </a:pPr>
            <a:fld id="{B8DBDD7B-55F7-4E81-99D6-871B72DE8D09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A186CE50-06D5-48C3-BBA2-B8F1B6637A6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 xmlns:a="http://schemas.openxmlformats.org/drawingml/2006/main"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 xmlns:a="http://schemas.openxmlformats.org/drawingml/2006/main"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 xmlns:a="http://schemas.openxmlformats.org/drawingml/2006/main"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 xmlns:a="http://schemas.openxmlformats.org/drawingml/2006/main"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 xmlns:a="http://schemas.openxmlformats.org/drawingml/2006/main"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 xmlns:a="http://schemas.openxmlformats.org/drawingml/2006/main"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En blanco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9AFA01-85E8-41C8-BFEB-FE88E08787C7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838080" y="6356520"/>
            <a:ext cx="274284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F263C05-D9A0-4F8A-AA79-C10CE81416F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4038480" y="6356520"/>
            <a:ext cx="411444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EB870DD-4095-49C3-86B2-7CC804E418B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8610480" y="6356520"/>
            <a:ext cx="274284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r" defTabSz="914400">
              <a:lnSpc>
                <a:spcPct val="100000"/>
              </a:lnSpc>
              <a:buNone/>
            </a:pPr>
            <a:fld id="{7FBF5B81-499C-4B1F-BD1D-B740ABE19A3E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440C910-735E-4F15-A27D-9389BEC5B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4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A00D1EF-8719-4B81-B92C-8C2033B5C42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 xmlns:a="http://schemas.openxmlformats.org/drawingml/2006/main"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 xmlns:a="http://schemas.openxmlformats.org/drawingml/2006/main"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 xmlns:a="http://schemas.openxmlformats.org/drawingml/2006/main"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 xmlns:a="http://schemas.openxmlformats.org/drawingml/2006/main"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 xmlns:a="http://schemas.openxmlformats.org/drawingml/2006/main"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 xmlns:a="http://schemas.openxmlformats.org/drawingml/2006/main"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bff024f1524c42" /><Relationship Type="http://schemas.openxmlformats.org/officeDocument/2006/relationships/slideLayout" Target="/ppt/slideLayouts/slideLayout1.xml" Id="R0e4e8deac2714288" /><Relationship Type="http://schemas.openxmlformats.org/officeDocument/2006/relationships/slideLayout" Target="/ppt/slideLayouts/slideLayout2.xml" Id="R50cd90e2d9ad4c4c" /><Relationship Type="http://schemas.openxmlformats.org/officeDocument/2006/relationships/slideLayout" Target="/ppt/slideLayouts/slideLayout3.xml" Id="R458cf44af9d644f6" /><Relationship Type="http://schemas.openxmlformats.org/officeDocument/2006/relationships/slideLayout" Target="/ppt/slideLayouts/slideLayout4.xml" Id="R79146f383ebc45ae" /><Relationship Type="http://schemas.openxmlformats.org/officeDocument/2006/relationships/slideLayout" Target="/ppt/slideLayouts/slideLayout5.xml" Id="Re8e4ef262cdc404f" /><Relationship Type="http://schemas.openxmlformats.org/officeDocument/2006/relationships/slideLayout" Target="/ppt/slideLayouts/slideLayout6.xml" Id="R18c2be17e611440c" /><Relationship Type="http://schemas.openxmlformats.org/officeDocument/2006/relationships/slideLayout" Target="/ppt/slideLayouts/slideLayout7.xml" Id="R37ee04656a9e4175" /><Relationship Type="http://schemas.openxmlformats.org/officeDocument/2006/relationships/slideLayout" Target="/ppt/slideLayouts/slideLayout8.xml" Id="R65a29fa286f34b07" /><Relationship Type="http://schemas.openxmlformats.org/officeDocument/2006/relationships/slideLayout" Target="/ppt/slideLayouts/slideLayout9.xml" Id="R29e54ff08b5a4697" /><Relationship Type="http://schemas.openxmlformats.org/officeDocument/2006/relationships/slideLayout" Target="/ppt/slideLayouts/slideLayout10.xml" Id="R2dd1f5161977458d" /><Relationship Type="http://schemas.openxmlformats.org/officeDocument/2006/relationships/slideLayout" Target="/ppt/slideLayouts/slideLayout11.xml" Id="Rdbac456663a74a89" /><Relationship Type="http://schemas.openxmlformats.org/officeDocument/2006/relationships/slideLayout" Target="/ppt/slideLayouts/slideLayout12.xml" Id="R858162da0b2a43e1" /><Relationship Type="http://schemas.openxmlformats.org/officeDocument/2006/relationships/slideLayout" Target="/ppt/slideLayouts/slideLayout13.xml" Id="R6215b366cacc4f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A45B9F5-6E43-4DCF-B684-77E3B139B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022543E-D400-4AF8-9D15-D7A86E360E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636119-1EB6-45F4-A5DC-F696FBF2675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7646D7-7F84-4841-A60D-9C0F421F0E1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A4C24D-0E22-4A46-B95A-2642B19FD0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e8deac2714288"/>
    <p:sldLayoutId xmlns:r="http://schemas.openxmlformats.org/officeDocument/2006/relationships" id="2147483650" r:id="R50cd90e2d9ad4c4c"/>
    <p:sldLayoutId xmlns:r="http://schemas.openxmlformats.org/officeDocument/2006/relationships" id="2147483651" r:id="R458cf44af9d644f6"/>
    <p:sldLayoutId xmlns:r="http://schemas.openxmlformats.org/officeDocument/2006/relationships" id="2147483652" r:id="R79146f383ebc45ae"/>
    <p:sldLayoutId xmlns:r="http://schemas.openxmlformats.org/officeDocument/2006/relationships" id="2147483653" r:id="Re8e4ef262cdc404f"/>
    <p:sldLayoutId xmlns:r="http://schemas.openxmlformats.org/officeDocument/2006/relationships" id="2147483654" r:id="R18c2be17e611440c"/>
    <p:sldLayoutId xmlns:r="http://schemas.openxmlformats.org/officeDocument/2006/relationships" id="2147483655" r:id="R37ee04656a9e4175"/>
    <p:sldLayoutId xmlns:r="http://schemas.openxmlformats.org/officeDocument/2006/relationships" id="2147483656" r:id="R65a29fa286f34b07"/>
    <p:sldLayoutId xmlns:r="http://schemas.openxmlformats.org/officeDocument/2006/relationships" id="2147483657" r:id="R29e54ff08b5a4697"/>
    <p:sldLayoutId xmlns:r="http://schemas.openxmlformats.org/officeDocument/2006/relationships" id="2147483658" r:id="R2dd1f5161977458d"/>
    <p:sldLayoutId xmlns:r="http://schemas.openxmlformats.org/officeDocument/2006/relationships" id="2147483659" r:id="Rdbac456663a74a89"/>
    <p:sldLayoutId xmlns:r="http://schemas.openxmlformats.org/officeDocument/2006/relationships" id="2147483660" r:id="R858162da0b2a43e1"/>
    <p:sldLayoutId xmlns:r="http://schemas.openxmlformats.org/officeDocument/2006/relationships" id="2147483661" r:id="R6215b366cacc4fd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ff0b2b3aaf4bd3" /><Relationship Type="http://schemas.openxmlformats.org/officeDocument/2006/relationships/image" Target="/ppt/media/image.png" Id="Re6db8c33f83b4dd2" /><Relationship Type="http://schemas.openxmlformats.org/officeDocument/2006/relationships/image" Target="/ppt/media/image2.png" Id="Red21f2bc83394850" /><Relationship Type="http://schemas.openxmlformats.org/officeDocument/2006/relationships/image" Target="/ppt/media/image3.png" Id="Rdc3591dba05d4c9d" /><Relationship Type="http://schemas.openxmlformats.org/officeDocument/2006/relationships/notesSlide" Target="/ppt/notesSlides/notesSlide1.xml" Id="Re60975cda4c544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7003ffbea304307" /><Relationship Type="http://schemas.openxmlformats.org/officeDocument/2006/relationships/image" Target="/ppt/media/image4.png" Id="R04c12fa9dbe6496b" /><Relationship Type="http://schemas.openxmlformats.org/officeDocument/2006/relationships/image" Target="/ppt/media/image5.png" Id="Rb0563a4a5d9d4102" /><Relationship Type="http://schemas.openxmlformats.org/officeDocument/2006/relationships/notesSlide" Target="/ppt/notesSlides/notesSlide2.xml" Id="R07b8fec6217341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39c4ea71c694b33" /><Relationship Type="http://schemas.openxmlformats.org/officeDocument/2006/relationships/image" Target="/ppt/media/image5.png" Id="Re415074c23c2486c" /><Relationship Type="http://schemas.openxmlformats.org/officeDocument/2006/relationships/image" Target="/ppt/media/image4.png" Id="Re872c55e01de43ef" /><Relationship Type="http://schemas.openxmlformats.org/officeDocument/2006/relationships/notesSlide" Target="/ppt/notesSlides/notesSlide3.xml" Id="R91ea3b280e384a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a2ddba2180a4360" /><Relationship Type="http://schemas.openxmlformats.org/officeDocument/2006/relationships/image" Target="/ppt/media/image5.png" Id="Rd8a605c54d7b49cc" /><Relationship Type="http://schemas.openxmlformats.org/officeDocument/2006/relationships/image" Target="/ppt/media/image4.png" Id="R45a72757b0f9482e" /><Relationship Type="http://schemas.openxmlformats.org/officeDocument/2006/relationships/notesSlide" Target="/ppt/notesSlides/notesSlide4.xml" Id="R06b0b375582544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6f0744423244656" /><Relationship Type="http://schemas.openxmlformats.org/officeDocument/2006/relationships/image" Target="/ppt/media/image5.png" Id="R70e87f56f60f4cb8" /><Relationship Type="http://schemas.openxmlformats.org/officeDocument/2006/relationships/image" Target="/ppt/media/image4.png" Id="R8adc5ff7aa0c48bc" /><Relationship Type="http://schemas.openxmlformats.org/officeDocument/2006/relationships/notesSlide" Target="/ppt/notesSlides/notesSlide5.xml" Id="Rb781de23b96a44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bc93da8c2064b58" /><Relationship Type="http://schemas.openxmlformats.org/officeDocument/2006/relationships/image" Target="/ppt/media/image5.png" Id="R3c55cab5c73b45af" /><Relationship Type="http://schemas.openxmlformats.org/officeDocument/2006/relationships/image" Target="/ppt/media/image4.png" Id="R50bdcdba789245ba" /><Relationship Type="http://schemas.openxmlformats.org/officeDocument/2006/relationships/notesSlide" Target="/ppt/notesSlides/notesSlide6.xml" Id="R3aaf0d2d914046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7dda1de855c4e8d" /><Relationship Type="http://schemas.openxmlformats.org/officeDocument/2006/relationships/image" Target="/ppt/media/image5.png" Id="R730f657cab924b48" /><Relationship Type="http://schemas.openxmlformats.org/officeDocument/2006/relationships/image" Target="/ppt/media/image4.png" Id="R41edc072e1d34cb7" /><Relationship Type="http://schemas.openxmlformats.org/officeDocument/2006/relationships/notesSlide" Target="/ppt/notesSlides/notesSlide7.xml" Id="Re7e83ac40aaa42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c24f501fa6b421e" /><Relationship Type="http://schemas.openxmlformats.org/officeDocument/2006/relationships/image" Target="/ppt/media/image5.png" Id="R95ae18ae756742ad" /><Relationship Type="http://schemas.openxmlformats.org/officeDocument/2006/relationships/image" Target="/ppt/media/image4.png" Id="Reaf2de03701e4ade" /><Relationship Type="http://schemas.openxmlformats.org/officeDocument/2006/relationships/notesSlide" Target="/ppt/notesSlides/notesSlide8.xml" Id="R78967bc7a73e4f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1df4556af834b75" /><Relationship Type="http://schemas.openxmlformats.org/officeDocument/2006/relationships/image" Target="/ppt/media/image5.png" Id="Rac5c56e28c9a4be1" /><Relationship Type="http://schemas.openxmlformats.org/officeDocument/2006/relationships/image" Target="/ppt/media/image4.png" Id="R6672e5a3d1164e1b" /><Relationship Type="http://schemas.openxmlformats.org/officeDocument/2006/relationships/notesSlide" Target="/ppt/notesSlides/notesSlide9.xml" Id="Ra7aba8dd98b04d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f435dc2f7a84813" /><Relationship Type="http://schemas.openxmlformats.org/officeDocument/2006/relationships/image" Target="/ppt/media/image5.png" Id="Rf42bcce4eb5d41a4" /><Relationship Type="http://schemas.openxmlformats.org/officeDocument/2006/relationships/image" Target="/ppt/media/image4.png" Id="R98e4fdbb51804193" /><Relationship Type="http://schemas.openxmlformats.org/officeDocument/2006/relationships/notesSlide" Target="/ppt/notesSlides/notesSlide10.xml" Id="R5346b645249b4b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c64769eb51c4c8c" /><Relationship Type="http://schemas.openxmlformats.org/officeDocument/2006/relationships/image" Target="/ppt/media/image5.png" Id="Rf934b86e75734452" /><Relationship Type="http://schemas.openxmlformats.org/officeDocument/2006/relationships/image" Target="/ppt/media/image4.png" Id="R6692377b322e4189" /><Relationship Type="http://schemas.openxmlformats.org/officeDocument/2006/relationships/notesSlide" Target="/ppt/notesSlides/notesSlide11.xml" Id="R8213e49c508240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2e65a6e5b514e1b" /><Relationship Type="http://schemas.openxmlformats.org/officeDocument/2006/relationships/image" Target="/ppt/media/image5.png" Id="R7906208eee324c3f" /><Relationship Type="http://schemas.openxmlformats.org/officeDocument/2006/relationships/image" Target="/ppt/media/image4.png" Id="R050c075343574d05" /><Relationship Type="http://schemas.openxmlformats.org/officeDocument/2006/relationships/notesSlide" Target="/ppt/notesSlides/notesSlide12.xml" Id="R553bf5a3aecd4d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ad7f24705b64c2a" /><Relationship Type="http://schemas.openxmlformats.org/officeDocument/2006/relationships/image" Target="/ppt/media/image5.png" Id="R0269194ae4b0466a" /><Relationship Type="http://schemas.openxmlformats.org/officeDocument/2006/relationships/image" Target="/ppt/media/image4.png" Id="R3085facdec3448ae" /><Relationship Type="http://schemas.openxmlformats.org/officeDocument/2006/relationships/notesSlide" Target="/ppt/notesSlides/notesSlide13.xml" Id="R8f711a23aca54e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13a3ddd0b594d35" /><Relationship Type="http://schemas.openxmlformats.org/officeDocument/2006/relationships/image" Target="/ppt/media/image5.png" Id="R1c6c0ea2e0ec499d" /><Relationship Type="http://schemas.openxmlformats.org/officeDocument/2006/relationships/image" Target="/ppt/media/image4.png" Id="R8a9426df938d4eed" /><Relationship Type="http://schemas.openxmlformats.org/officeDocument/2006/relationships/notesSlide" Target="/ppt/notesSlides/notesSlide14.xml" Id="Rc377610eadac4f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acf26ede3db4666" /><Relationship Type="http://schemas.openxmlformats.org/officeDocument/2006/relationships/image" Target="/ppt/media/image5.png" Id="R55126961e0dd44e3" /><Relationship Type="http://schemas.openxmlformats.org/officeDocument/2006/relationships/image" Target="/ppt/media/image4.png" Id="Rbb2fdd7f3f084f3c" /><Relationship Type="http://schemas.openxmlformats.org/officeDocument/2006/relationships/notesSlide" Target="/ppt/notesSlides/notesSlide15.xml" Id="Rf745764c82114b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5176BC8-C0FB-44A3-82A0-B342622C5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3880" y="1308960"/>
            <a:ext cx="9143640" cy="222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u="none">
                <a:solidFill>
                  <a:srgbClr val="845C3C"/>
                </a:solidFill>
                <a:latin typeface="Arial"/>
                <a:ea typeface="Arial"/>
                <a:cs typeface="Arial"/>
              </a:rPr>
              <a:t>ED · UP1</a:t>
            </a:r>
            <a:endParaRPr sz="54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ctr">
              <a:buNone/>
            </a:pPr>
            <a:r>
              <a:rPr sz="5400" b="1" u="none">
                <a:solidFill>
                  <a:srgbClr val="845C3C"/>
                </a:solidFill>
                <a:latin typeface="Arial"/>
                <a:ea typeface="Arial"/>
                <a:cs typeface="Arial"/>
              </a:rPr>
              <a:t>ENTORNS INTEGRATS</a:t>
            </a:r>
            <a:endParaRPr sz="54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7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1747A45A-62D6-4AB8-8AC9-E2985CDA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40" y="3659400"/>
            <a:ext cx="10580400" cy="45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720" rIns="90000" bIns="72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8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2A2423E-9CAF-4FEC-A0D3-5733E144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7560"/>
            <a:ext cx="12191760" cy="550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b8c33f83b4dd2"/>
          <a:srcRect xmlns:a="http://schemas.openxmlformats.org/drawingml/2006/main" l="0" t="169" r="0" b="169"/>
          <a:stretch xmlns:a="http://schemas.openxmlformats.org/drawingml/2006/main"/>
        </p:blipFill>
        <p:spPr>
          <a:xfrm xmlns:a="http://schemas.openxmlformats.org/drawingml/2006/main">
            <a:off x="802440" y="595440"/>
            <a:ext cx="2742840" cy="878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80" name="Imagen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1f2bc83394850"/>
          <a:srcRect xmlns:a="http://schemas.openxmlformats.org/drawingml/2006/main" l="964" t="0" r="964" b="0"/>
          <a:stretch xmlns:a="http://schemas.openxmlformats.org/drawingml/2006/main"/>
        </p:blipFill>
        <p:spPr>
          <a:xfrm xmlns:a="http://schemas.openxmlformats.org/drawingml/2006/main">
            <a:off x="9069480" y="434160"/>
            <a:ext cx="2742840" cy="1490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81" name="Imagen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591dba05d4c9d"/>
          <a:stretch xmlns:a="http://schemas.openxmlformats.org/drawingml/2006/main"/>
        </p:blipFill>
        <p:spPr>
          <a:xfrm xmlns:a="http://schemas.openxmlformats.org/drawingml/2006/main">
            <a:off x="5283000" y="236880"/>
            <a:ext cx="1619640" cy="15955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EA0FC2F-30E6-4B05-B6A4-BBCD2A8D747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523880" y="4027320"/>
            <a:ext cx="9143640" cy="27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</a:tabLst>
            </a:pPr>
            <a:r>
              <a:rPr sz="28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 · ENTORNS DE DESENVOLUPAMENT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tabLst>
                <a:tab pos="0" algn="l"/>
              </a:tabLst>
            </a:pPr>
            <a:r>
              <a:t/>
            </a:r>
            <a:endParaRPr/>
          </a:p>
          <a:p xmlns:a="http://schemas.openxmlformats.org/drawingml/2006/main">
            <a:pPr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t>VS CODE + INTELLIJ IDEA</a:t>
            </a:r>
            <a:endParaRPr sz="210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>
              <a:solidFill>
                <a:schemeClr val="dk1"/>
              </a:solidFill>
            </a:endParaRPr>
          </a:p>
          <a:p xmlns:a="http://schemas.openxmlformats.org/drawingml/2006/main">
            <a:pPr algn="ctr"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JORDI CIDONCHA · CURS 2026/27</a:t>
            </a:r>
            <a:endParaRPr sz="24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91634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7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12fa9dbe6496b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F1AE7082-E165-4A8F-AEF8-B5091C1C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D6E1E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Título 6">
            <a:extLst xmlns:a="http://schemas.openxmlformats.org/drawingml/2006/main">
              <a:ext uri="{FF2B5EF4-FFF2-40B4-BE49-F238E27FC236}">
                <a16:creationId xmlns:a16="http://schemas.microsoft.com/office/drawing/2014/main" id="{DAB3A885-233B-437E-A16E-FCB6BD48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35800"/>
            <a:ext cx="840168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90000"/>
              </a:lnSpc>
              <a:buNone/>
            </a:pPr>
            <a:r>
              <a:rPr sz="3000" b="1" u="none">
                <a:solidFill>
                  <a:srgbClr val="1C4C73"/>
                </a:solidFill>
                <a:latin typeface="Arial"/>
                <a:ea typeface="Arial"/>
                <a:cs typeface="Arial"/>
              </a:rPr>
              <a:t>ÍNDEX · EL RECORREGUT DE LA UP1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A348BAEF-DD33-4136-B457-0D527B9C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685A8C50-4645-4C2C-AFBD-F416F652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8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7DCE568-94F6-465D-838A-26BBE1E9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0A60666D-2E26-4B8D-ACD3-8998D20A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4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63a4a5d9d4102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3" name="index-0">
            <a:extLst xmlns:a="http://schemas.openxmlformats.org/drawingml/2006/main">
              <a:ext uri="{FF2B5EF4-FFF2-40B4-BE49-F238E27FC236}">
                <a16:creationId xmlns:a16="http://schemas.microsoft.com/office/drawing/2014/main" id="{AAC1E995-641B-400E-97D5-78676AE5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F2933"/>
                </a:solidFill>
                <a:latin typeface="Aptos"/>
                <a:ea typeface="Aptos"/>
                <a:cs typeface="Aptos"/>
              </a:rPr>
              <a:t>01  ENTENDRE L’IDE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F2933"/>
                </a:solidFill>
                <a:latin typeface="Aptos"/>
                <a:ea typeface="Aptos"/>
                <a:cs typeface="Aptos"/>
              </a:rPr>
              <a:t>Què integra i per què importa · VS Code i IntelliJ IDEA</a:t>
            </a:r>
          </a:p>
        </p:txBody>
      </p:sp>
      <p:sp>
        <p:nvSpPr>
          <p:cNvPr id="84" name="index-1">
            <a:extLst xmlns:a="http://schemas.openxmlformats.org/drawingml/2006/main">
              <a:ext uri="{FF2B5EF4-FFF2-40B4-BE49-F238E27FC236}">
                <a16:creationId xmlns:a16="http://schemas.microsoft.com/office/drawing/2014/main" id="{46692B6C-8FED-44DB-B84B-9F7C5A39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F2933"/>
                </a:solidFill>
                <a:latin typeface="Aptos"/>
                <a:ea typeface="Aptos"/>
                <a:cs typeface="Aptos"/>
              </a:rPr>
              <a:t>02  POSAR-LO A PUNT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F2933"/>
                </a:solidFill>
                <a:latin typeface="Aptos"/>
                <a:ea typeface="Aptos"/>
                <a:cs typeface="Aptos"/>
              </a:rPr>
              <a:t>Instal·lació, mòduls, configuració i actualitzacions</a:t>
            </a:r>
          </a:p>
        </p:txBody>
      </p:sp>
      <p:sp>
        <p:nvSpPr>
          <p:cNvPr id="85" name="index-2">
            <a:extLst xmlns:a="http://schemas.openxmlformats.org/drawingml/2006/main">
              <a:ext uri="{FF2B5EF4-FFF2-40B4-BE49-F238E27FC236}">
                <a16:creationId xmlns:a16="http://schemas.microsoft.com/office/drawing/2014/main" id="{3D43F5CD-9278-40AE-9579-1F2FEA5F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F2933"/>
                </a:solidFill>
                <a:latin typeface="Aptos"/>
                <a:ea typeface="Aptos"/>
                <a:cs typeface="Aptos"/>
              </a:rPr>
              <a:t>03  CONSTRUIR EXECUTABLES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F2933"/>
                </a:solidFill>
                <a:latin typeface="Aptos"/>
                <a:ea typeface="Aptos"/>
                <a:cs typeface="Aptos"/>
              </a:rPr>
              <a:t>Java i Kotlin en IntelliJ · mateix projecte en dos IDE</a:t>
            </a:r>
          </a:p>
        </p:txBody>
      </p:sp>
      <p:sp>
        <p:nvSpPr>
          <p:cNvPr id="86" name="index-3">
            <a:extLst xmlns:a="http://schemas.openxmlformats.org/drawingml/2006/main">
              <a:ext uri="{FF2B5EF4-FFF2-40B4-BE49-F238E27FC236}">
                <a16:creationId xmlns:a16="http://schemas.microsoft.com/office/drawing/2014/main" id="{D6A1CEA5-C0C5-4344-93DA-BF30929D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F2933"/>
                </a:solidFill>
                <a:latin typeface="Aptos"/>
                <a:ea typeface="Aptos"/>
                <a:cs typeface="Aptos"/>
              </a:rPr>
              <a:t>04  COMPARAR I DECIDIR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F2933"/>
                </a:solidFill>
                <a:latin typeface="Aptos"/>
                <a:ea typeface="Aptos"/>
                <a:cs typeface="Aptos"/>
              </a:rPr>
              <a:t>Evidències, errors freqüents i repte de laboratori</a:t>
            </a:r>
          </a:p>
        </p:txBody>
      </p:sp>
    </p:spTree>
    <p:extLst>
      <p:ext uri="{BB962C8B-B14F-4D97-AF65-F5344CB8AC3E}">
        <p14:creationId xmlns:p14="http://schemas.microsoft.com/office/powerpoint/2010/main" val="40563295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Una IDE concentra el cicle de treball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4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5074c23c2486c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5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2c55e01de43ef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arrow-260-322">
            <a:extLst xmlns:a="http://schemas.openxmlformats.org/drawingml/2006/main">
              <a:ext uri="{FF2B5EF4-FFF2-40B4-BE49-F238E27FC236}">
                <a16:creationId xmlns:a16="http://schemas.microsoft.com/office/drawing/2014/main" id="{1905ADEA-BFFF-4F5A-9B7A-FAB7DA66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670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2" name="arrow-505-322">
            <a:extLst xmlns:a="http://schemas.openxmlformats.org/drawingml/2006/main">
              <a:ext uri="{FF2B5EF4-FFF2-40B4-BE49-F238E27FC236}">
                <a16:creationId xmlns:a16="http://schemas.microsoft.com/office/drawing/2014/main" id="{8E73707C-0752-4F63-B4A6-C34E6920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670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3" name="arrow-750-322">
            <a:extLst xmlns:a="http://schemas.openxmlformats.org/drawingml/2006/main">
              <a:ext uri="{FF2B5EF4-FFF2-40B4-BE49-F238E27FC236}">
                <a16:creationId xmlns:a16="http://schemas.microsoft.com/office/drawing/2014/main" id="{634C9BCD-A800-4286-96D6-6B8B38D1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4" name="workflow-Codi font">
            <a:extLst xmlns:a="http://schemas.openxmlformats.org/drawingml/2006/main">
              <a:ext uri="{FF2B5EF4-FFF2-40B4-BE49-F238E27FC236}">
                <a16:creationId xmlns:a16="http://schemas.microsoft.com/office/drawing/2014/main" id="{11928200-3B01-4CC4-8DDA-6B3CE69C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809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E8F1F5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Codi font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classes</a:t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configuració</a:t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95" name="workflow-IDE">
            <a:extLst xmlns:a="http://schemas.openxmlformats.org/drawingml/2006/main">
              <a:ext uri="{FF2B5EF4-FFF2-40B4-BE49-F238E27FC236}">
                <a16:creationId xmlns:a16="http://schemas.microsoft.com/office/drawing/2014/main" id="{0E013097-4BD3-44E9-8F03-3F845A76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67000"/>
            <a:ext cx="1809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FDF1EA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editor +</a:t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depurador +</a:t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projecte</a:t>
            </a:r>
          </a:p>
        </p:txBody>
      </p:sp>
      <p:sp>
        <p:nvSpPr>
          <p:cNvPr id="96" name="workflow-Construcció">
            <a:extLst xmlns:a="http://schemas.openxmlformats.org/drawingml/2006/main">
              <a:ext uri="{FF2B5EF4-FFF2-40B4-BE49-F238E27FC236}">
                <a16:creationId xmlns:a16="http://schemas.microsoft.com/office/drawing/2014/main" id="{18BF8CC3-715E-49D5-9817-5E1D076F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1809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E8F1F5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Construcció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JDK + Maven</a:t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compila i empaqueta</a:t>
            </a:r>
          </a:p>
        </p:txBody>
      </p:sp>
      <p:sp>
        <p:nvSpPr>
          <p:cNvPr id="97" name="workflow-Executable">
            <a:extLst xmlns:a="http://schemas.openxmlformats.org/drawingml/2006/main">
              <a:ext uri="{FF2B5EF4-FFF2-40B4-BE49-F238E27FC236}">
                <a16:creationId xmlns:a16="http://schemas.microsoft.com/office/drawing/2014/main" id="{30F08988-4575-4D30-BD43-55CECBCC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1809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DF5E9"/>
          </a:solidFill>
          <a:ln xmlns:a="http://schemas.openxmlformats.org/drawingml/2006/main" w="13335">
            <a:solidFill>
              <a:srgbClr val="EDF5E9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Executable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.jar</a:t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llest per executar</a:t>
            </a:r>
          </a:p>
        </p:txBody>
      </p:sp>
      <p:sp>
        <p:nvSpPr>
          <p:cNvPr id="98" name="workflow-takeaway">
            <a:extLst xmlns:a="http://schemas.openxmlformats.org/drawingml/2006/main">
              <a:ext uri="{FF2B5EF4-FFF2-40B4-BE49-F238E27FC236}">
                <a16:creationId xmlns:a16="http://schemas.microsoft.com/office/drawing/2014/main" id="{8C438D62-23DB-44F0-BF5B-994CC581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3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L’IDE no substitueix el llenguatge ni el compilador: els integra en un flux de treball observable.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Dues maneres de treballar, un mateix objectiu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0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605c54d7b49cc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1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72757b0f9482e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vscode-column">
            <a:extLst xmlns:a="http://schemas.openxmlformats.org/drawingml/2006/main">
              <a:ext uri="{FF2B5EF4-FFF2-40B4-BE49-F238E27FC236}">
                <a16:creationId xmlns:a16="http://schemas.microsoft.com/office/drawing/2014/main" id="{A005C535-BC1F-4C0F-B5B6-2621FABD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476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0E2841"/>
                </a:solidFill>
                <a:latin typeface="Aptos"/>
                <a:ea typeface="Aptos"/>
                <a:cs typeface="Aptos"/>
              </a:rPr>
              <a:t>VISUAL STUDIO 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0E2841"/>
                </a:solidFill>
                <a:latin typeface="Aptos"/>
                <a:ea typeface="Aptos"/>
                <a:cs typeface="Aptos"/>
              </a:rPr>
              <a:t>• nucli lleuger</a:t>
            </a:r>
          </a:p>
          <a:p xmlns:a="http://schemas.openxmlformats.org/drawingml/2006/main">
            <a:pPr>
              <a:defRPr sz="1725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0E2841"/>
                </a:solidFill>
                <a:latin typeface="Aptos"/>
                <a:ea typeface="Aptos"/>
                <a:cs typeface="Aptos"/>
              </a:rPr>
              <a:t>• extensions segons el projecte</a:t>
            </a:r>
          </a:p>
          <a:p xmlns:a="http://schemas.openxmlformats.org/drawingml/2006/main">
            <a:pPr>
              <a:defRPr sz="1725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0E2841"/>
                </a:solidFill>
                <a:latin typeface="Aptos"/>
                <a:ea typeface="Aptos"/>
                <a:cs typeface="Aptos"/>
              </a:rPr>
              <a:t>• terminal i tasques integrades</a:t>
            </a:r>
          </a:p>
          <a:p xmlns:a="http://schemas.openxmlformats.org/drawingml/2006/main">
            <a:pPr>
              <a:defRPr sz="1725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0E2841"/>
                </a:solidFill>
                <a:latin typeface="Aptos"/>
                <a:ea typeface="Aptos"/>
                <a:cs typeface="Aptos"/>
              </a:rPr>
              <a:t>• molta flexibilitat</a:t>
            </a:r>
          </a:p>
        </p:txBody>
      </p:sp>
      <p:sp>
        <p:nvSpPr>
          <p:cNvPr id="92" name="idea-column">
            <a:extLst xmlns:a="http://schemas.openxmlformats.org/drawingml/2006/main">
              <a:ext uri="{FF2B5EF4-FFF2-40B4-BE49-F238E27FC236}">
                <a16:creationId xmlns:a16="http://schemas.microsoft.com/office/drawing/2014/main" id="{07872725-FCD3-4EC5-9DE6-17BA6744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4476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876044"/>
                </a:solidFill>
                <a:latin typeface="Aptos"/>
                <a:ea typeface="Aptos"/>
                <a:cs typeface="Aptos"/>
              </a:rPr>
              <a:t>INTELLIJ IDEA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876044"/>
                </a:solidFill>
                <a:latin typeface="Aptos"/>
                <a:ea typeface="Aptos"/>
                <a:cs typeface="Aptos"/>
              </a:rPr>
              <a:t>• model de projecte profund</a:t>
            </a:r>
          </a:p>
          <a:p xmlns:a="http://schemas.openxmlformats.org/drawingml/2006/main">
            <a:pPr>
              <a:defRPr sz="1725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876044"/>
                </a:solidFill>
                <a:latin typeface="Aptos"/>
                <a:ea typeface="Aptos"/>
                <a:cs typeface="Aptos"/>
              </a:rPr>
              <a:t>• assistència de codi avançada</a:t>
            </a:r>
          </a:p>
          <a:p xmlns:a="http://schemas.openxmlformats.org/drawingml/2006/main">
            <a:pPr>
              <a:defRPr sz="1725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876044"/>
                </a:solidFill>
                <a:latin typeface="Aptos"/>
                <a:ea typeface="Aptos"/>
                <a:cs typeface="Aptos"/>
              </a:rPr>
              <a:t>• Maven i depurador integrats</a:t>
            </a:r>
          </a:p>
          <a:p xmlns:a="http://schemas.openxmlformats.org/drawingml/2006/main">
            <a:pPr>
              <a:defRPr sz="1725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876044"/>
                </a:solidFill>
                <a:latin typeface="Aptos"/>
                <a:ea typeface="Aptos"/>
                <a:cs typeface="Aptos"/>
              </a:rPr>
              <a:t>• més funcions de sèrie</a:t>
            </a:r>
          </a:p>
        </p:txBody>
      </p:sp>
      <p:sp>
        <p:nvSpPr>
          <p:cNvPr id="93" name="arrow-590-330">
            <a:extLst xmlns:a="http://schemas.openxmlformats.org/drawingml/2006/main">
              <a:ext uri="{FF2B5EF4-FFF2-40B4-BE49-F238E27FC236}">
                <a16:creationId xmlns:a16="http://schemas.microsoft.com/office/drawing/2014/main" id="{FBE2EE27-53F4-419C-BA02-ABA892F9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952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6044"/>
          </a:solidFill>
          <a:ln xmlns:a="http://schemas.openxmlformats.org/drawingml/2006/main" w="0">
            <a:solidFill>
              <a:srgbClr val="876044"/>
            </a:solidFill>
            <a:prstDash val="solid"/>
          </a:ln>
        </p:spPr>
      </p:sp>
      <p:sp>
        <p:nvSpPr>
          <p:cNvPr id="94" name="same-goal">
            <a:extLst xmlns:a="http://schemas.openxmlformats.org/drawingml/2006/main">
              <a:ext uri="{FF2B5EF4-FFF2-40B4-BE49-F238E27FC236}">
                <a16:creationId xmlns:a16="http://schemas.microsoft.com/office/drawing/2014/main" id="{DFD46302-4C67-4BAC-8816-23576C3A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673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editar → construir → verificar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Instal·lar no és obrir: és poder construir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2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87f56f60f4cb8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13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c5ff7aa0c48bc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badge-01">
            <a:extLst xmlns:a="http://schemas.openxmlformats.org/drawingml/2006/main">
              <a:ext uri="{FF2B5EF4-FFF2-40B4-BE49-F238E27FC236}">
                <a16:creationId xmlns:a16="http://schemas.microsoft.com/office/drawing/2014/main" id="{2119210C-CD4D-43CE-9E9D-4798CE66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E8F1F5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2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B6698C0F-CBEA-4AF6-A5BC-5F4E013B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IDE</a:t>
            </a:r>
          </a:p>
        </p:txBody>
      </p:sp>
      <p:sp>
        <p:nvSpPr>
          <p:cNvPr id="93" name="step-body-1">
            <a:extLst xmlns:a="http://schemas.openxmlformats.org/drawingml/2006/main">
              <a:ext uri="{FF2B5EF4-FFF2-40B4-BE49-F238E27FC236}">
                <a16:creationId xmlns:a16="http://schemas.microsoft.com/office/drawing/2014/main" id="{91A7901F-21E7-40A1-A26B-D9A60769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4797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56616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6616C"/>
                </a:solidFill>
                <a:latin typeface="Aptos"/>
                <a:ea typeface="Aptos"/>
                <a:cs typeface="Aptos"/>
              </a:rPr>
              <a:t>VS Code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56616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6616C"/>
                </a:solidFill>
                <a:latin typeface="Aptos"/>
                <a:ea typeface="Aptos"/>
                <a:cs typeface="Aptos"/>
              </a:rPr>
              <a:t>IntelliJ IDEA</a:t>
            </a:r>
          </a:p>
        </p:txBody>
      </p:sp>
      <p:sp>
        <p:nvSpPr>
          <p:cNvPr id="94" name="arrow-322-280">
            <a:extLst xmlns:a="http://schemas.openxmlformats.org/drawingml/2006/main">
              <a:ext uri="{FF2B5EF4-FFF2-40B4-BE49-F238E27FC236}">
                <a16:creationId xmlns:a16="http://schemas.microsoft.com/office/drawing/2014/main" id="{A457F6E9-E7D1-49BB-82CA-1F94DF22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67000"/>
            <a:ext cx="609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5" name="badge-02">
            <a:extLst xmlns:a="http://schemas.openxmlformats.org/drawingml/2006/main">
              <a:ext uri="{FF2B5EF4-FFF2-40B4-BE49-F238E27FC236}">
                <a16:creationId xmlns:a16="http://schemas.microsoft.com/office/drawing/2014/main" id="{0458FC41-2A4A-4DEA-8B69-82BC8ACF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FDF1E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9713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304AEE86-7652-451F-BB90-38ED0003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479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JDK</a:t>
            </a:r>
          </a:p>
        </p:txBody>
      </p:sp>
      <p:sp>
        <p:nvSpPr>
          <p:cNvPr id="97" name="step-body-2">
            <a:extLst xmlns:a="http://schemas.openxmlformats.org/drawingml/2006/main">
              <a:ext uri="{FF2B5EF4-FFF2-40B4-BE49-F238E27FC236}">
                <a16:creationId xmlns:a16="http://schemas.microsoft.com/office/drawing/2014/main" id="{FEE4A01C-90E4-400E-8EF5-3E9020A6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4797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56616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6616C"/>
                </a:solidFill>
                <a:latin typeface="Aptos"/>
                <a:ea typeface="Aptos"/>
                <a:cs typeface="Aptos"/>
              </a:rPr>
              <a:t>java --version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56616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6616C"/>
                </a:solidFill>
                <a:latin typeface="Aptos"/>
                <a:ea typeface="Aptos"/>
                <a:cs typeface="Aptos"/>
              </a:rPr>
              <a:t>compiler disponible</a:t>
            </a:r>
          </a:p>
        </p:txBody>
      </p:sp>
      <p:sp>
        <p:nvSpPr>
          <p:cNvPr id="98" name="arrow-612-280">
            <a:extLst xmlns:a="http://schemas.openxmlformats.org/drawingml/2006/main">
              <a:ext uri="{FF2B5EF4-FFF2-40B4-BE49-F238E27FC236}">
                <a16:creationId xmlns:a16="http://schemas.microsoft.com/office/drawing/2014/main" id="{8247138B-6674-420E-89D3-521496BB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67000"/>
            <a:ext cx="609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9" name="badge-03">
            <a:extLst xmlns:a="http://schemas.openxmlformats.org/drawingml/2006/main">
              <a:ext uri="{FF2B5EF4-FFF2-40B4-BE49-F238E27FC236}">
                <a16:creationId xmlns:a16="http://schemas.microsoft.com/office/drawing/2014/main" id="{7BCEBE39-11CB-40E5-9E7E-4E92A71B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E8F1F5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0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5DACBC44-168F-46CB-A974-4F573F04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479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Maven</a:t>
            </a:r>
          </a:p>
        </p:txBody>
      </p:sp>
      <p:sp>
        <p:nvSpPr>
          <p:cNvPr id="101" name="step-body-3">
            <a:extLst xmlns:a="http://schemas.openxmlformats.org/drawingml/2006/main">
              <a:ext uri="{FF2B5EF4-FFF2-40B4-BE49-F238E27FC236}">
                <a16:creationId xmlns:a16="http://schemas.microsoft.com/office/drawing/2014/main" id="{2DA8502B-7423-45BB-82B7-BC7A12DC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4797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56616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6616C"/>
                </a:solidFill>
                <a:latin typeface="Aptos"/>
                <a:ea typeface="Aptos"/>
                <a:cs typeface="Aptos"/>
              </a:rPr>
              <a:t>mvn --version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56616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6616C"/>
                </a:solidFill>
                <a:latin typeface="Aptos"/>
                <a:ea typeface="Aptos"/>
                <a:cs typeface="Aptos"/>
              </a:rPr>
              <a:t>projecte construïble</a:t>
            </a:r>
          </a:p>
        </p:txBody>
      </p:sp>
      <p:sp>
        <p:nvSpPr>
          <p:cNvPr id="102" name="arrow-902-280">
            <a:extLst xmlns:a="http://schemas.openxmlformats.org/drawingml/2006/main">
              <a:ext uri="{FF2B5EF4-FFF2-40B4-BE49-F238E27FC236}">
                <a16:creationId xmlns:a16="http://schemas.microsoft.com/office/drawing/2014/main" id="{8CB5BFF2-572B-433E-A5B2-7CD4A813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609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103" name="badge-04">
            <a:extLst xmlns:a="http://schemas.openxmlformats.org/drawingml/2006/main">
              <a:ext uri="{FF2B5EF4-FFF2-40B4-BE49-F238E27FC236}">
                <a16:creationId xmlns:a16="http://schemas.microsoft.com/office/drawing/2014/main" id="{085CD649-B27D-4B65-A8B8-8618A1DE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5262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DF5E9"/>
          </a:solidFill>
          <a:ln xmlns:a="http://schemas.openxmlformats.org/drawingml/2006/main" w="13335">
            <a:solidFill>
              <a:srgbClr val="EDF5E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4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C4DEBBCC-9314-4C8A-9385-016E092F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479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Prova</a:t>
            </a:r>
          </a:p>
        </p:txBody>
      </p:sp>
      <p:sp>
        <p:nvSpPr>
          <p:cNvPr id="105" name="step-body-4">
            <a:extLst xmlns:a="http://schemas.openxmlformats.org/drawingml/2006/main">
              <a:ext uri="{FF2B5EF4-FFF2-40B4-BE49-F238E27FC236}">
                <a16:creationId xmlns:a16="http://schemas.microsoft.com/office/drawing/2014/main" id="{9F27B03E-45D9-4D92-9EFD-3F1615E8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4797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56616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6616C"/>
                </a:solidFill>
                <a:latin typeface="Aptos"/>
                <a:ea typeface="Aptos"/>
                <a:cs typeface="Aptos"/>
              </a:rPr>
              <a:t>mvn clean package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56616C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6616C"/>
                </a:solidFill>
                <a:latin typeface="Aptos"/>
                <a:ea typeface="Aptos"/>
                <a:cs typeface="Aptos"/>
              </a:rPr>
              <a:t>JAR verificat</a:t>
            </a:r>
          </a:p>
        </p:txBody>
      </p:sp>
      <p:sp>
        <p:nvSpPr>
          <p:cNvPr id="106" name="install-check">
            <a:extLst xmlns:a="http://schemas.openxmlformats.org/drawingml/2006/main">
              <a:ext uri="{FF2B5EF4-FFF2-40B4-BE49-F238E27FC236}">
                <a16:creationId xmlns:a16="http://schemas.microsoft.com/office/drawing/2014/main" id="{98867279-62BC-4C4F-8082-6F510FA7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590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8138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Evidència RA2.a</a:t>
            </a:r>
          </a:p>
          <a:p xmlns:a="http://schemas.openxmlformats.org/drawingml/2006/main">
            <a:pPr algn="ctr">
              <a:defRPr sz="165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Captura de versions + primera construcció correcta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Els mòduls completen el que l’IDE no porta de sèrie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9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5cab5c73b45af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0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dcdba789245ba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module-vscode">
            <a:extLst xmlns:a="http://schemas.openxmlformats.org/drawingml/2006/main">
              <a:ext uri="{FF2B5EF4-FFF2-40B4-BE49-F238E27FC236}">
                <a16:creationId xmlns:a16="http://schemas.microsoft.com/office/drawing/2014/main" id="{08297477-7D3F-4E3D-9437-1006331E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E2841"/>
                </a:solidFill>
                <a:latin typeface="Aptos"/>
                <a:ea typeface="Aptos"/>
                <a:cs typeface="Aptos"/>
              </a:rPr>
              <a:t>VS 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E2841"/>
                </a:solidFill>
                <a:latin typeface="Aptos"/>
                <a:ea typeface="Aptos"/>
                <a:cs typeface="Aptos"/>
              </a:rPr>
              <a:t>Extension Pack for Java</a:t>
            </a:r>
          </a:p>
          <a:p xmlns:a="http://schemas.openxmlformats.org/drawingml/2006/main">
            <a:pPr>
              <a:defRPr sz="1650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E2841"/>
                </a:solidFill>
                <a:latin typeface="Aptos"/>
                <a:ea typeface="Aptos"/>
                <a:cs typeface="Aptos"/>
              </a:rPr>
              <a:t>• llenguatge</a:t>
            </a:r>
          </a:p>
          <a:p xmlns:a="http://schemas.openxmlformats.org/drawingml/2006/main">
            <a:pPr>
              <a:defRPr sz="1650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E2841"/>
                </a:solidFill>
                <a:latin typeface="Aptos"/>
                <a:ea typeface="Aptos"/>
                <a:cs typeface="Aptos"/>
              </a:rPr>
              <a:t>• depuració</a:t>
            </a:r>
          </a:p>
          <a:p xmlns:a="http://schemas.openxmlformats.org/drawingml/2006/main">
            <a:pPr>
              <a:defRPr sz="1650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E2841"/>
                </a:solidFill>
                <a:latin typeface="Aptos"/>
                <a:ea typeface="Aptos"/>
                <a:cs typeface="Aptos"/>
              </a:rPr>
              <a:t>• Maven</a:t>
            </a:r>
          </a:p>
          <a:p xmlns:a="http://schemas.openxmlformats.org/drawingml/2006/main">
            <a:pPr>
              <a:defRPr sz="1650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0E2841"/>
                </a:solidFill>
                <a:latin typeface="Aptos"/>
                <a:ea typeface="Aptos"/>
                <a:cs typeface="Aptos"/>
              </a:rPr>
              <a:t>• proves</a:t>
            </a:r>
          </a:p>
        </p:txBody>
      </p:sp>
      <p:sp>
        <p:nvSpPr>
          <p:cNvPr id="92" name="module-idea">
            <a:extLst xmlns:a="http://schemas.openxmlformats.org/drawingml/2006/main">
              <a:ext uri="{FF2B5EF4-FFF2-40B4-BE49-F238E27FC236}">
                <a16:creationId xmlns:a16="http://schemas.microsoft.com/office/drawing/2014/main" id="{3BB9D777-2402-4F6B-BE4A-8638A159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76044"/>
                </a:solidFill>
                <a:latin typeface="Aptos"/>
                <a:ea typeface="Aptos"/>
                <a:cs typeface="Aptos"/>
              </a:rPr>
              <a:t>INTELLIJ IDEA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76044"/>
                </a:solidFill>
                <a:latin typeface="Aptos"/>
                <a:ea typeface="Aptos"/>
                <a:cs typeface="Aptos"/>
              </a:rPr>
              <a:t>Plugins i funcions</a:t>
            </a:r>
          </a:p>
          <a:p xmlns:a="http://schemas.openxmlformats.org/drawingml/2006/main">
            <a:pPr>
              <a:defRPr sz="1650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76044"/>
                </a:solidFill>
                <a:latin typeface="Aptos"/>
                <a:ea typeface="Aptos"/>
                <a:cs typeface="Aptos"/>
              </a:rPr>
              <a:t>• suport de llenguatge</a:t>
            </a:r>
          </a:p>
          <a:p xmlns:a="http://schemas.openxmlformats.org/drawingml/2006/main">
            <a:pPr>
              <a:defRPr sz="1650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76044"/>
                </a:solidFill>
                <a:latin typeface="Aptos"/>
                <a:ea typeface="Aptos"/>
                <a:cs typeface="Aptos"/>
              </a:rPr>
              <a:t>• integració amb eines</a:t>
            </a:r>
          </a:p>
          <a:p xmlns:a="http://schemas.openxmlformats.org/drawingml/2006/main">
            <a:pPr>
              <a:defRPr sz="1650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76044"/>
                </a:solidFill>
                <a:latin typeface="Aptos"/>
                <a:ea typeface="Aptos"/>
                <a:cs typeface="Aptos"/>
              </a:rPr>
              <a:t>• extensions opcionals</a:t>
            </a:r>
          </a:p>
        </p:txBody>
      </p:sp>
      <p:sp>
        <p:nvSpPr>
          <p:cNvPr id="93" name="module-rule">
            <a:extLst xmlns:a="http://schemas.openxmlformats.org/drawingml/2006/main">
              <a:ext uri="{FF2B5EF4-FFF2-40B4-BE49-F238E27FC236}">
                <a16:creationId xmlns:a16="http://schemas.microsoft.com/office/drawing/2014/main" id="{04445CC4-AE6F-4639-BADF-A37F17F3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Afegir = ampliar · desactivar = diagnosticar · eliminar = netejar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Personalitzar és reduir fricció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4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f657cab924b48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5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dc072e1d34cb7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arrow-310-294">
            <a:extLst xmlns:a="http://schemas.openxmlformats.org/drawingml/2006/main">
              <a:ext uri="{FF2B5EF4-FFF2-40B4-BE49-F238E27FC236}">
                <a16:creationId xmlns:a16="http://schemas.microsoft.com/office/drawing/2014/main" id="{4DF335C4-395F-446C-A194-32E58C11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2" name="arrow-590-294">
            <a:extLst xmlns:a="http://schemas.openxmlformats.org/drawingml/2006/main">
              <a:ext uri="{FF2B5EF4-FFF2-40B4-BE49-F238E27FC236}">
                <a16:creationId xmlns:a16="http://schemas.microsoft.com/office/drawing/2014/main" id="{44D26A2E-7181-43E6-9B36-6B051B18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3" name="arrow-870-294">
            <a:extLst xmlns:a="http://schemas.openxmlformats.org/drawingml/2006/main">
              <a:ext uri="{FF2B5EF4-FFF2-40B4-BE49-F238E27FC236}">
                <a16:creationId xmlns:a16="http://schemas.microsoft.com/office/drawing/2014/main" id="{ADDCDC3F-07B2-46F5-93F6-62FA18A7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4" name="custom-Preferències">
            <a:extLst xmlns:a="http://schemas.openxmlformats.org/drawingml/2006/main">
              <a:ext uri="{FF2B5EF4-FFF2-40B4-BE49-F238E27FC236}">
                <a16:creationId xmlns:a16="http://schemas.microsoft.com/office/drawing/2014/main" id="{1C9CC27A-373A-4950-A2F1-94FAC404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1952625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E8F1F5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Preferències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tema, font, format</a:t>
            </a:r>
          </a:p>
        </p:txBody>
      </p:sp>
      <p:sp>
        <p:nvSpPr>
          <p:cNvPr id="95" name="custom-Projecte">
            <a:extLst xmlns:a="http://schemas.openxmlformats.org/drawingml/2006/main">
              <a:ext uri="{FF2B5EF4-FFF2-40B4-BE49-F238E27FC236}">
                <a16:creationId xmlns:a16="http://schemas.microsoft.com/office/drawing/2014/main" id="{E5F02452-E79F-41B9-8555-D68130A0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1952625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FDF1EA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Projecte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.vscode/</a:t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configuració IDE</a:t>
            </a:r>
          </a:p>
        </p:txBody>
      </p:sp>
      <p:sp>
        <p:nvSpPr>
          <p:cNvPr id="96" name="custom-Automatització">
            <a:extLst xmlns:a="http://schemas.openxmlformats.org/drawingml/2006/main">
              <a:ext uri="{FF2B5EF4-FFF2-40B4-BE49-F238E27FC236}">
                <a16:creationId xmlns:a16="http://schemas.microsoft.com/office/drawing/2014/main" id="{AF6F3A55-9180-445A-931F-DAF8B204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1952625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E8F1F5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Automatització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tasques + Maven</a:t>
            </a:r>
          </a:p>
        </p:txBody>
      </p:sp>
      <p:sp>
        <p:nvSpPr>
          <p:cNvPr id="97" name="custom-Feedback">
            <a:extLst xmlns:a="http://schemas.openxmlformats.org/drawingml/2006/main">
              <a:ext uri="{FF2B5EF4-FFF2-40B4-BE49-F238E27FC236}">
                <a16:creationId xmlns:a16="http://schemas.microsoft.com/office/drawing/2014/main" id="{52235155-77CA-4683-9F18-D3D04CE1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1952625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5E9"/>
          </a:solidFill>
          <a:ln xmlns:a="http://schemas.openxmlformats.org/drawingml/2006/main" w="13335">
            <a:solidFill>
              <a:srgbClr val="EDF5E9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Feedback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problemes visibles</a:t>
            </a:r>
          </a:p>
          <a:p xmlns:a="http://schemas.openxmlformats.org/drawingml/2006/main">
            <a:pPr algn="ctr">
              <a:defRPr sz="15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i repetibles</a:t>
            </a:r>
          </a:p>
        </p:txBody>
      </p:sp>
      <p:sp>
        <p:nvSpPr>
          <p:cNvPr id="98" name="automation-example">
            <a:extLst xmlns:a="http://schemas.openxmlformats.org/drawingml/2006/main">
              <a:ext uri="{FF2B5EF4-FFF2-40B4-BE49-F238E27FC236}">
                <a16:creationId xmlns:a16="http://schemas.microsoft.com/office/drawing/2014/main" id="{60B94C04-0ADB-42B5-8610-D850C09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1012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Exemple: una tasca `mvn clean package` converteix una seqüència manual en una acció repetible.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Actualitzar amb criteri protegeix el projecte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e18ae756742ad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3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2de03701e4ade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cycle-center">
            <a:extLst xmlns:a="http://schemas.openxmlformats.org/drawingml/2006/main">
              <a:ext uri="{FF2B5EF4-FFF2-40B4-BE49-F238E27FC236}">
                <a16:creationId xmlns:a16="http://schemas.microsoft.com/office/drawing/2014/main" id="{6194F825-15AD-4F9E-8A83-6ADA65CC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ACTUALITZAR</a:t>
            </a:r>
          </a:p>
          <a:p xmlns:a="http://schemas.openxmlformats.org/drawingml/2006/main">
            <a:pPr algn="ctr">
              <a:defRPr sz="2025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SENSE SORPRESES</a:t>
            </a:r>
          </a:p>
        </p:txBody>
      </p:sp>
      <p:sp>
        <p:nvSpPr>
          <p:cNvPr id="92" name="cycle-1">
            <a:extLst xmlns:a="http://schemas.openxmlformats.org/drawingml/2006/main">
              <a:ext uri="{FF2B5EF4-FFF2-40B4-BE49-F238E27FC236}">
                <a16:creationId xmlns:a16="http://schemas.microsoft.com/office/drawing/2014/main" id="{0B53A897-9CAD-42D8-AD0D-96284C81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47875"/>
            <a:ext cx="2238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1</a:t>
            </a:r>
          </a:p>
          <a:p xmlns:a="http://schemas.openxmlformats.org/drawingml/2006/main">
            <a:pPr algn="ctr">
              <a:defRPr sz="157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Llegir canvis</a:t>
            </a:r>
          </a:p>
          <a:p xmlns:a="http://schemas.openxmlformats.org/drawingml/2006/main">
            <a:pPr algn="ctr">
              <a:defRPr sz="157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i compatibilitat</a:t>
            </a:r>
          </a:p>
        </p:txBody>
      </p:sp>
      <p:sp>
        <p:nvSpPr>
          <p:cNvPr id="93" name="cycle-2">
            <a:extLst xmlns:a="http://schemas.openxmlformats.org/drawingml/2006/main">
              <a:ext uri="{FF2B5EF4-FFF2-40B4-BE49-F238E27FC236}">
                <a16:creationId xmlns:a16="http://schemas.microsoft.com/office/drawing/2014/main" id="{5D3BDC24-322B-40E3-BC76-AF1A58DB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47875"/>
            <a:ext cx="2238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2</a:t>
            </a:r>
          </a:p>
          <a:p xmlns:a="http://schemas.openxmlformats.org/drawingml/2006/main">
            <a:pPr algn="ctr">
              <a:defRPr sz="1575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Actualitzar IDE</a:t>
            </a:r>
          </a:p>
          <a:p xmlns:a="http://schemas.openxmlformats.org/drawingml/2006/main">
            <a:pPr algn="ctr">
              <a:defRPr sz="1575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i mòduls</a:t>
            </a:r>
          </a:p>
        </p:txBody>
      </p:sp>
      <p:sp>
        <p:nvSpPr>
          <p:cNvPr id="94" name="cycle-3">
            <a:extLst xmlns:a="http://schemas.openxmlformats.org/drawingml/2006/main">
              <a:ext uri="{FF2B5EF4-FFF2-40B4-BE49-F238E27FC236}">
                <a16:creationId xmlns:a16="http://schemas.microsoft.com/office/drawing/2014/main" id="{C7A23D45-FCFE-43E0-BFB9-E93A1DF5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2238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DF5E9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3</a:t>
            </a:r>
          </a:p>
          <a:p xmlns:a="http://schemas.openxmlformats.org/drawingml/2006/main">
            <a:pPr algn="ctr">
              <a:defRPr sz="157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Reconstruir</a:t>
            </a:r>
          </a:p>
          <a:p xmlns:a="http://schemas.openxmlformats.org/drawingml/2006/main">
            <a:pPr algn="ctr">
              <a:defRPr sz="157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i executar proves</a:t>
            </a:r>
          </a:p>
        </p:txBody>
      </p:sp>
      <p:sp>
        <p:nvSpPr>
          <p:cNvPr id="95" name="cycle-4">
            <a:extLst xmlns:a="http://schemas.openxmlformats.org/drawingml/2006/main">
              <a:ext uri="{FF2B5EF4-FFF2-40B4-BE49-F238E27FC236}">
                <a16:creationId xmlns:a16="http://schemas.microsoft.com/office/drawing/2014/main" id="{739AA6C7-CB00-4987-B3A7-7CE4D96C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29125"/>
            <a:ext cx="2238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4</a:t>
            </a:r>
          </a:p>
          <a:p xmlns:a="http://schemas.openxmlformats.org/drawingml/2006/main">
            <a:pPr algn="ctr">
              <a:defRPr sz="157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Registrar resultat</a:t>
            </a:r>
          </a:p>
          <a:p xmlns:a="http://schemas.openxmlformats.org/drawingml/2006/main">
            <a:pPr algn="ctr">
              <a:defRPr sz="157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i incidències</a:t>
            </a:r>
          </a:p>
        </p:txBody>
      </p:sp>
      <p:sp>
        <p:nvSpPr>
          <p:cNvPr id="96" name="update-rule">
            <a:extLst xmlns:a="http://schemas.openxmlformats.org/drawingml/2006/main">
              <a:ext uri="{FF2B5EF4-FFF2-40B4-BE49-F238E27FC236}">
                <a16:creationId xmlns:a16="http://schemas.microsoft.com/office/drawing/2014/main" id="{9DEEFB57-478F-40C4-A106-323268D2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816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98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No actualitzes per inèrcia: actualitza, verifica i deixa una evidència.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Del codi font a l’executable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c56e28c9a4be1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3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2e5a3d1164e1b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5E8E1EC-CCA5-47B8-BFCC-57F2E113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E2841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0E2841"/>
                </a:solidFill>
                <a:latin typeface="Consolas"/>
                <a:ea typeface="Consolas"/>
                <a:cs typeface="Consolas"/>
              </a:rPr>
              <a:t>App.java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E2841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0E2841"/>
                </a:solidFill>
                <a:latin typeface="Consolas"/>
                <a:ea typeface="Consolas"/>
                <a:cs typeface="Consolas"/>
              </a:rPr>
              <a:t>public static void main</a:t>
            </a:r>
          </a:p>
          <a:p xmlns:a="http://schemas.openxmlformats.org/drawingml/2006/main">
            <a:pPr>
              <a:defRPr sz="1500">
                <a:solidFill>
                  <a:srgbClr val="0E2841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0E2841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500">
                <a:solidFill>
                  <a:srgbClr val="0E2841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0E2841"/>
                </a:solidFill>
                <a:latin typeface="Consolas"/>
                <a:ea typeface="Consolas"/>
                <a:cs typeface="Consolas"/>
              </a:rPr>
              <a:t>  System.out.println("Hola IDE");</a:t>
            </a:r>
          </a:p>
          <a:p xmlns:a="http://schemas.openxmlformats.org/drawingml/2006/main">
            <a:pPr>
              <a:defRPr sz="1500">
                <a:solidFill>
                  <a:srgbClr val="0E2841"/>
                </a:solidFill>
                <a:latin typeface="Consolas"/>
                <a:ea typeface="Consolas"/>
                <a:cs typeface="Consolas"/>
              </a:defRPr>
            </a:pPr>
            <a:r>
              <a:rPr sz="1500">
                <a:solidFill>
                  <a:srgbClr val="0E2841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2" name="arrow-465-305">
            <a:extLst xmlns:a="http://schemas.openxmlformats.org/drawingml/2006/main">
              <a:ext uri="{FF2B5EF4-FFF2-40B4-BE49-F238E27FC236}">
                <a16:creationId xmlns:a16="http://schemas.microsoft.com/office/drawing/2014/main" id="{CF85EB62-288D-4AA9-B276-7C1C1076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8191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3" name="maven-build">
            <a:extLst xmlns:a="http://schemas.openxmlformats.org/drawingml/2006/main">
              <a:ext uri="{FF2B5EF4-FFF2-40B4-BE49-F238E27FC236}">
                <a16:creationId xmlns:a16="http://schemas.microsoft.com/office/drawing/2014/main" id="{5AAB7668-D249-4256-8324-E0AB006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2857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Maven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`mvn clean package`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compila + empaqueta</a:t>
            </a:r>
          </a:p>
        </p:txBody>
      </p:sp>
      <p:sp>
        <p:nvSpPr>
          <p:cNvPr id="94" name="arrow-930-305">
            <a:extLst xmlns:a="http://schemas.openxmlformats.org/drawingml/2006/main">
              <a:ext uri="{FF2B5EF4-FFF2-40B4-BE49-F238E27FC236}">
                <a16:creationId xmlns:a16="http://schemas.microsoft.com/office/drawing/2014/main" id="{F60CFAD4-13B0-4A6D-9B1F-9A8870D4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8191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0">
            <a:solidFill>
              <a:srgbClr val="196B24"/>
            </a:solidFill>
            <a:prstDash val="solid"/>
          </a:ln>
        </p:spPr>
      </p:sp>
      <p:sp>
        <p:nvSpPr>
          <p:cNvPr id="95" name="jar-output">
            <a:extLst xmlns:a="http://schemas.openxmlformats.org/drawingml/2006/main">
              <a:ext uri="{FF2B5EF4-FFF2-40B4-BE49-F238E27FC236}">
                <a16:creationId xmlns:a16="http://schemas.microsoft.com/office/drawing/2014/main" id="{C31DFBE6-6B02-4652-9497-BC80E4A6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52625"/>
            <a:ext cx="1619250" cy="2476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F5E9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target/</a:t>
            </a:r>
          </a:p>
          <a:p xmlns:a="http://schemas.openxmlformats.org/drawingml/2006/main">
            <a:pPr algn="ctr">
              <a:defRPr sz="157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app.jar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`java -jar app.jar`</a:t>
            </a:r>
          </a:p>
        </p:txBody>
      </p:sp>
      <p:sp>
        <p:nvSpPr>
          <p:cNvPr id="96" name="executable-proof">
            <a:extLst xmlns:a="http://schemas.openxmlformats.org/drawingml/2006/main">
              <a:ext uri="{FF2B5EF4-FFF2-40B4-BE49-F238E27FC236}">
                <a16:creationId xmlns:a16="http://schemas.microsoft.com/office/drawing/2014/main" id="{66A88819-7221-499C-A53D-A7CD9035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RA2.e i RA2.f: no n’hi ha prou amb veure el codi; cal conservar el JAR i el resultat d’execució.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Un mateix IDE pot construir llenguatges diferents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1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bcce4eb5d41a4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2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4fdbb51804193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badge-RA2.e">
            <a:extLst xmlns:a="http://schemas.openxmlformats.org/drawingml/2006/main">
              <a:ext uri="{FF2B5EF4-FFF2-40B4-BE49-F238E27FC236}">
                <a16:creationId xmlns:a16="http://schemas.microsoft.com/office/drawing/2014/main" id="{138DA306-09E5-40B5-B96E-D883336C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FDF1E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971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97132"/>
                </a:solidFill>
                <a:latin typeface="Aptos"/>
                <a:ea typeface="Aptos"/>
                <a:cs typeface="Aptos"/>
              </a:rPr>
              <a:t>RA2.e</a:t>
            </a:r>
          </a:p>
        </p:txBody>
      </p:sp>
      <p:sp>
        <p:nvSpPr>
          <p:cNvPr id="92" name="java-lang">
            <a:extLst xmlns:a="http://schemas.openxmlformats.org/drawingml/2006/main">
              <a:ext uri="{FF2B5EF4-FFF2-40B4-BE49-F238E27FC236}">
                <a16:creationId xmlns:a16="http://schemas.microsoft.com/office/drawing/2014/main" id="{4D9A9E6D-EFAE-40BF-8855-4D9B6065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095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`HelloJava.java`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JDK + Maven</a:t>
            </a:r>
          </a:p>
          <a:p xmlns:a="http://schemas.openxmlformats.org/drawingml/2006/main">
            <a:pPr algn="ctr">
              <a:defRPr sz="180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→ `HelloJava.class`</a:t>
            </a:r>
          </a:p>
        </p:txBody>
      </p:sp>
      <p:sp>
        <p:nvSpPr>
          <p:cNvPr id="93" name="kotlin-lang">
            <a:extLst xmlns:a="http://schemas.openxmlformats.org/drawingml/2006/main">
              <a:ext uri="{FF2B5EF4-FFF2-40B4-BE49-F238E27FC236}">
                <a16:creationId xmlns:a16="http://schemas.microsoft.com/office/drawing/2014/main" id="{8E4C1112-B44A-4A17-AF35-4774F723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4095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KOTLIN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`HelloKotlin.kt`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plugin Kotlin</a:t>
            </a:r>
          </a:p>
          <a:p xmlns:a="http://schemas.openxmlformats.org/drawingml/2006/main">
            <a:pPr algn="ctr">
              <a:defRPr sz="180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→ `HelloKotlin.class`</a:t>
            </a:r>
          </a:p>
        </p:txBody>
      </p:sp>
      <p:sp>
        <p:nvSpPr>
          <p:cNvPr id="94" name="arrow-565-345">
            <a:extLst xmlns:a="http://schemas.openxmlformats.org/drawingml/2006/main">
              <a:ext uri="{FF2B5EF4-FFF2-40B4-BE49-F238E27FC236}">
                <a16:creationId xmlns:a16="http://schemas.microsoft.com/office/drawing/2014/main" id="{E11E9CB7-DB1A-4516-9067-FE050A6E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86125"/>
            <a:ext cx="12382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6044"/>
          </a:solidFill>
          <a:ln xmlns:a="http://schemas.openxmlformats.org/drawingml/2006/main" w="0">
            <a:solidFill>
              <a:srgbClr val="876044"/>
            </a:solidFill>
            <a:prstDash val="solid"/>
          </a:ln>
        </p:spPr>
      </p:sp>
      <p:sp>
        <p:nvSpPr>
          <p:cNvPr id="95" name="jvm-bridge">
            <a:extLst xmlns:a="http://schemas.openxmlformats.org/drawingml/2006/main">
              <a:ext uri="{FF2B5EF4-FFF2-40B4-BE49-F238E27FC236}">
                <a16:creationId xmlns:a16="http://schemas.microsoft.com/office/drawing/2014/main" id="{02FC0488-7E77-4EDE-80C2-71987CBB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435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mateixa JVM · sintaxi i compilador diferents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El mateix codi ha de donar el mateix resultat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3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4b86e75734452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4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2377b322e4189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badge-RA2.f">
            <a:extLst xmlns:a="http://schemas.openxmlformats.org/drawingml/2006/main">
              <a:ext uri="{FF2B5EF4-FFF2-40B4-BE49-F238E27FC236}">
                <a16:creationId xmlns:a16="http://schemas.microsoft.com/office/drawing/2014/main" id="{FEAD8277-AD2D-47A9-BB8A-6F416B5D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485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E8F1F5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RA2.f</a:t>
            </a:r>
          </a:p>
        </p:txBody>
      </p:sp>
      <p:sp>
        <p:nvSpPr>
          <p:cNvPr id="92" name="same-project">
            <a:extLst xmlns:a="http://schemas.openxmlformats.org/drawingml/2006/main">
              <a:ext uri="{FF2B5EF4-FFF2-40B4-BE49-F238E27FC236}">
                <a16:creationId xmlns:a16="http://schemas.microsoft.com/office/drawing/2014/main" id="{A11C185F-0D6A-48DB-8B8B-0256808E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762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projecte Java Maven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mateix codi</a:t>
            </a:r>
          </a:p>
          <a:p xmlns:a="http://schemas.openxmlformats.org/drawingml/2006/main"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mateix `pom.xml`</a:t>
            </a:r>
          </a:p>
          <a:p xmlns:a="http://schemas.openxmlformats.org/drawingml/2006/main"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mateix JDK</a:t>
            </a:r>
          </a:p>
        </p:txBody>
      </p:sp>
      <p:sp>
        <p:nvSpPr>
          <p:cNvPr id="93" name="arrow-420-350">
            <a:extLst xmlns:a="http://schemas.openxmlformats.org/drawingml/2006/main">
              <a:ext uri="{FF2B5EF4-FFF2-40B4-BE49-F238E27FC236}">
                <a16:creationId xmlns:a16="http://schemas.microsoft.com/office/drawing/2014/main" id="{C8B9EB92-6BE6-4310-8723-FA0E155D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762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4" name="vscode-build">
            <a:extLst xmlns:a="http://schemas.openxmlformats.org/drawingml/2006/main">
              <a:ext uri="{FF2B5EF4-FFF2-40B4-BE49-F238E27FC236}">
                <a16:creationId xmlns:a16="http://schemas.microsoft.com/office/drawing/2014/main" id="{2D66DA36-F08C-4969-BDEC-0219D5CD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271462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VS 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`mvn clean package`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✅ app.jar</a:t>
            </a:r>
          </a:p>
        </p:txBody>
      </p:sp>
      <p:sp>
        <p:nvSpPr>
          <p:cNvPr id="95" name="arrow-860-350">
            <a:extLst xmlns:a="http://schemas.openxmlformats.org/drawingml/2006/main">
              <a:ext uri="{FF2B5EF4-FFF2-40B4-BE49-F238E27FC236}">
                <a16:creationId xmlns:a16="http://schemas.microsoft.com/office/drawing/2014/main" id="{1926D8FE-8F68-4510-857A-D9F01E1D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762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6044"/>
          </a:solidFill>
          <a:ln xmlns:a="http://schemas.openxmlformats.org/drawingml/2006/main" w="0">
            <a:solidFill>
              <a:srgbClr val="876044"/>
            </a:solidFill>
            <a:prstDash val="solid"/>
          </a:ln>
        </p:spPr>
      </p:sp>
      <p:sp>
        <p:nvSpPr>
          <p:cNvPr id="96" name="idea-build">
            <a:extLst xmlns:a="http://schemas.openxmlformats.org/drawingml/2006/main">
              <a:ext uri="{FF2B5EF4-FFF2-40B4-BE49-F238E27FC236}">
                <a16:creationId xmlns:a16="http://schemas.microsoft.com/office/drawing/2014/main" id="{AD04154A-EC02-40CA-B24C-DE22314E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2000250" cy="2476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INTELLIJ IDEA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`mvn clean package`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✅ app.jar</a:t>
            </a:r>
          </a:p>
        </p:txBody>
      </p:sp>
      <p:sp>
        <p:nvSpPr>
          <p:cNvPr id="97" name="same-result">
            <a:extLst xmlns:a="http://schemas.openxmlformats.org/drawingml/2006/main">
              <a:ext uri="{FF2B5EF4-FFF2-40B4-BE49-F238E27FC236}">
                <a16:creationId xmlns:a16="http://schemas.microsoft.com/office/drawing/2014/main" id="{53983E81-BE03-43B9-9885-B1E1DBC2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86375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Si canvia el codi entre proves, ja no és una comparació vàlida.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Compara l’eina segons la tasca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7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6208eee324c3f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18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c075343574d05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matrix-head-0">
            <a:extLst xmlns:a="http://schemas.openxmlformats.org/drawingml/2006/main">
              <a:ext uri="{FF2B5EF4-FFF2-40B4-BE49-F238E27FC236}">
                <a16:creationId xmlns:a16="http://schemas.microsoft.com/office/drawing/2014/main" id="{C109A400-0A0E-4FE8-901F-5E543C4E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3335">
            <a:solidFill>
              <a:srgbClr val="F7F9FA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CARACTERÍSTICA</a:t>
            </a:r>
          </a:p>
        </p:txBody>
      </p:sp>
      <p:sp>
        <p:nvSpPr>
          <p:cNvPr id="92" name="matrix-head-1">
            <a:extLst xmlns:a="http://schemas.openxmlformats.org/drawingml/2006/main">
              <a:ext uri="{FF2B5EF4-FFF2-40B4-BE49-F238E27FC236}">
                <a16:creationId xmlns:a16="http://schemas.microsoft.com/office/drawing/2014/main" id="{842C2AEC-A0E4-454A-8EC6-D9987D15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E8F1F5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COMUNA</a:t>
            </a:r>
          </a:p>
        </p:txBody>
      </p:sp>
      <p:sp>
        <p:nvSpPr>
          <p:cNvPr id="93" name="matrix-head-2">
            <a:extLst xmlns:a="http://schemas.openxmlformats.org/drawingml/2006/main">
              <a:ext uri="{FF2B5EF4-FFF2-40B4-BE49-F238E27FC236}">
                <a16:creationId xmlns:a16="http://schemas.microsoft.com/office/drawing/2014/main" id="{314A6C79-1164-4151-8D8B-44608165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1450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E8F1F5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VS CODE</a:t>
            </a:r>
          </a:p>
        </p:txBody>
      </p:sp>
      <p:sp>
        <p:nvSpPr>
          <p:cNvPr id="94" name="matrix-head-3">
            <a:extLst xmlns:a="http://schemas.openxmlformats.org/drawingml/2006/main">
              <a:ext uri="{FF2B5EF4-FFF2-40B4-BE49-F238E27FC236}">
                <a16:creationId xmlns:a16="http://schemas.microsoft.com/office/drawing/2014/main" id="{8F57A53B-9142-4BEF-8D35-C1F14431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1450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FDF1EA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INTELLIJ IDEA</a:t>
            </a:r>
          </a:p>
        </p:txBody>
      </p:sp>
      <p:sp>
        <p:nvSpPr>
          <p:cNvPr id="95" name="matrix-0-0">
            <a:extLst xmlns:a="http://schemas.openxmlformats.org/drawingml/2006/main">
              <a:ext uri="{FF2B5EF4-FFF2-40B4-BE49-F238E27FC236}">
                <a16:creationId xmlns:a16="http://schemas.microsoft.com/office/drawing/2014/main" id="{B8941042-AB44-4D09-8104-1C553FD5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Editor + terminal</a:t>
            </a:r>
          </a:p>
        </p:txBody>
      </p:sp>
      <p:sp>
        <p:nvSpPr>
          <p:cNvPr id="96" name="matrix-0-1">
            <a:extLst xmlns:a="http://schemas.openxmlformats.org/drawingml/2006/main">
              <a:ext uri="{FF2B5EF4-FFF2-40B4-BE49-F238E27FC236}">
                <a16:creationId xmlns:a16="http://schemas.microsoft.com/office/drawing/2014/main" id="{086B4B1B-A449-40EA-8E3E-0C227343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sí</a:t>
            </a:r>
          </a:p>
        </p:txBody>
      </p:sp>
      <p:sp>
        <p:nvSpPr>
          <p:cNvPr id="97" name="matrix-0-2">
            <a:extLst xmlns:a="http://schemas.openxmlformats.org/drawingml/2006/main">
              <a:ext uri="{FF2B5EF4-FFF2-40B4-BE49-F238E27FC236}">
                <a16:creationId xmlns:a16="http://schemas.microsoft.com/office/drawing/2014/main" id="{DE557B89-8D2E-438C-944A-063EF69A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28875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lleuger</a:t>
            </a:r>
          </a:p>
        </p:txBody>
      </p:sp>
      <p:sp>
        <p:nvSpPr>
          <p:cNvPr id="98" name="matrix-0-3">
            <a:extLst xmlns:a="http://schemas.openxmlformats.org/drawingml/2006/main">
              <a:ext uri="{FF2B5EF4-FFF2-40B4-BE49-F238E27FC236}">
                <a16:creationId xmlns:a16="http://schemas.microsoft.com/office/drawing/2014/main" id="{983B0432-74D4-46E4-8F48-F52C5325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28875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integrat</a:t>
            </a:r>
          </a:p>
        </p:txBody>
      </p:sp>
      <p:sp>
        <p:nvSpPr>
          <p:cNvPr id="99" name="matrix-1-0">
            <a:extLst xmlns:a="http://schemas.openxmlformats.org/drawingml/2006/main">
              <a:ext uri="{FF2B5EF4-FFF2-40B4-BE49-F238E27FC236}">
                <a16:creationId xmlns:a16="http://schemas.microsoft.com/office/drawing/2014/main" id="{27E0B900-4691-4030-977E-12C1A4E8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2420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Extensions/plugins</a:t>
            </a:r>
          </a:p>
        </p:txBody>
      </p:sp>
      <p:sp>
        <p:nvSpPr>
          <p:cNvPr id="100" name="matrix-1-1">
            <a:extLst xmlns:a="http://schemas.openxmlformats.org/drawingml/2006/main">
              <a:ext uri="{FF2B5EF4-FFF2-40B4-BE49-F238E27FC236}">
                <a16:creationId xmlns:a16="http://schemas.microsoft.com/office/drawing/2014/main" id="{FBF354C2-2AE6-4CF6-AD9B-0753C7B2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2420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sí</a:t>
            </a:r>
          </a:p>
        </p:txBody>
      </p:sp>
      <p:sp>
        <p:nvSpPr>
          <p:cNvPr id="101" name="matrix-1-2">
            <a:extLst xmlns:a="http://schemas.openxmlformats.org/drawingml/2006/main">
              <a:ext uri="{FF2B5EF4-FFF2-40B4-BE49-F238E27FC236}">
                <a16:creationId xmlns:a16="http://schemas.microsoft.com/office/drawing/2014/main" id="{70F79A6D-679C-47A4-A5AD-5467EC64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2420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essencials</a:t>
            </a:r>
          </a:p>
        </p:txBody>
      </p:sp>
      <p:sp>
        <p:nvSpPr>
          <p:cNvPr id="102" name="matrix-1-3">
            <a:extLst xmlns:a="http://schemas.openxmlformats.org/drawingml/2006/main">
              <a:ext uri="{FF2B5EF4-FFF2-40B4-BE49-F238E27FC236}">
                <a16:creationId xmlns:a16="http://schemas.microsoft.com/office/drawing/2014/main" id="{AEAFE4CE-39EC-496B-BE5B-8368E0F6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2420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opcionales</a:t>
            </a:r>
          </a:p>
        </p:txBody>
      </p:sp>
      <p:sp>
        <p:nvSpPr>
          <p:cNvPr id="103" name="matrix-2-0">
            <a:extLst xmlns:a="http://schemas.openxmlformats.org/drawingml/2006/main">
              <a:ext uri="{FF2B5EF4-FFF2-40B4-BE49-F238E27FC236}">
                <a16:creationId xmlns:a16="http://schemas.microsoft.com/office/drawing/2014/main" id="{6F3EA52B-3B36-4192-B61D-5B37D005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9525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Projecte Java</a:t>
            </a:r>
          </a:p>
        </p:txBody>
      </p:sp>
      <p:sp>
        <p:nvSpPr>
          <p:cNvPr id="104" name="matrix-2-1">
            <a:extLst xmlns:a="http://schemas.openxmlformats.org/drawingml/2006/main">
              <a:ext uri="{FF2B5EF4-FFF2-40B4-BE49-F238E27FC236}">
                <a16:creationId xmlns:a16="http://schemas.microsoft.com/office/drawing/2014/main" id="{5F093E3A-3162-4133-9D57-13474D64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9525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sí</a:t>
            </a:r>
          </a:p>
        </p:txBody>
      </p:sp>
      <p:sp>
        <p:nvSpPr>
          <p:cNvPr id="105" name="matrix-2-2">
            <a:extLst xmlns:a="http://schemas.openxmlformats.org/drawingml/2006/main">
              <a:ext uri="{FF2B5EF4-FFF2-40B4-BE49-F238E27FC236}">
                <a16:creationId xmlns:a16="http://schemas.microsoft.com/office/drawing/2014/main" id="{B058F072-BDCB-4BF8-90C5-0FF6CBF6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19525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via extensions</a:t>
            </a:r>
          </a:p>
        </p:txBody>
      </p:sp>
      <p:sp>
        <p:nvSpPr>
          <p:cNvPr id="106" name="matrix-2-3">
            <a:extLst xmlns:a="http://schemas.openxmlformats.org/drawingml/2006/main">
              <a:ext uri="{FF2B5EF4-FFF2-40B4-BE49-F238E27FC236}">
                <a16:creationId xmlns:a16="http://schemas.microsoft.com/office/drawing/2014/main" id="{3E4519C2-A59F-4401-9A43-987EF389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19525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natiu</a:t>
            </a:r>
          </a:p>
        </p:txBody>
      </p:sp>
      <p:sp>
        <p:nvSpPr>
          <p:cNvPr id="107" name="matrix-3-0">
            <a:extLst xmlns:a="http://schemas.openxmlformats.org/drawingml/2006/main">
              <a:ext uri="{FF2B5EF4-FFF2-40B4-BE49-F238E27FC236}">
                <a16:creationId xmlns:a16="http://schemas.microsoft.com/office/drawing/2014/main" id="{8B567F32-2F35-4234-AA86-9CAC52AD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Decisió</a:t>
            </a:r>
          </a:p>
        </p:txBody>
      </p:sp>
      <p:sp>
        <p:nvSpPr>
          <p:cNvPr id="108" name="matrix-3-1">
            <a:extLst xmlns:a="http://schemas.openxmlformats.org/drawingml/2006/main">
              <a:ext uri="{FF2B5EF4-FFF2-40B4-BE49-F238E27FC236}">
                <a16:creationId xmlns:a16="http://schemas.microsoft.com/office/drawing/2014/main" id="{1DCBFB1F-080C-44CB-AF33-42DC6342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1485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09" name="matrix-3-2">
            <a:extLst xmlns:a="http://schemas.openxmlformats.org/drawingml/2006/main">
              <a:ext uri="{FF2B5EF4-FFF2-40B4-BE49-F238E27FC236}">
                <a16:creationId xmlns:a16="http://schemas.microsoft.com/office/drawing/2014/main" id="{CB73BD86-9196-4D9D-BE89-76124171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1485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flexibilitat</a:t>
            </a:r>
          </a:p>
        </p:txBody>
      </p:sp>
      <p:sp>
        <p:nvSpPr>
          <p:cNvPr id="110" name="matrix-3-3">
            <a:extLst xmlns:a="http://schemas.openxmlformats.org/drawingml/2006/main">
              <a:ext uri="{FF2B5EF4-FFF2-40B4-BE49-F238E27FC236}">
                <a16:creationId xmlns:a16="http://schemas.microsoft.com/office/drawing/2014/main" id="{F13624C9-434B-42E0-BDAD-DAA66965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14850"/>
            <a:ext cx="228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integració</a:t>
            </a:r>
          </a:p>
        </p:txBody>
      </p:sp>
      <p:sp>
        <p:nvSpPr>
          <p:cNvPr id="111" name="matrix-takeaway">
            <a:extLst xmlns:a="http://schemas.openxmlformats.org/drawingml/2006/main">
              <a:ext uri="{FF2B5EF4-FFF2-40B4-BE49-F238E27FC236}">
                <a16:creationId xmlns:a16="http://schemas.microsoft.com/office/drawing/2014/main" id="{39DDE78F-291D-4EAB-A44D-CD8E6AC4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768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RA2.g demana una comparació raonada, no una opinió genèrica.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Errors freqüents que invaliden l’evidència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0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9194ae4b0466a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1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5facdec3448ae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error-0">
            <a:extLst xmlns:a="http://schemas.openxmlformats.org/drawingml/2006/main">
              <a:ext uri="{FF2B5EF4-FFF2-40B4-BE49-F238E27FC236}">
                <a16:creationId xmlns:a16="http://schemas.microsoft.com/office/drawing/2014/main" id="{744A4F22-7310-4EE4-AD76-D1E15C9C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95450"/>
            <a:ext cx="9620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90500" tIns="114300" rIns="1905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F2933"/>
                </a:solidFill>
                <a:latin typeface="Aptos"/>
                <a:ea typeface="Aptos"/>
                <a:cs typeface="Aptos"/>
              </a:rPr>
              <a:t>✕  Obrir l’IDE i prou</a:t>
            </a:r>
          </a:p>
          <a:p xmlns:a="http://schemas.openxmlformats.org/drawingml/2006/main">
            <a:pPr>
              <a:defRPr sz="150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F2933"/>
                </a:solidFill>
                <a:latin typeface="Aptos"/>
                <a:ea typeface="Aptos"/>
                <a:cs typeface="Aptos"/>
              </a:rPr>
              <a:t>✓  Solució: verificar JDK, Maven i una construcció.</a:t>
            </a:r>
          </a:p>
        </p:txBody>
      </p:sp>
      <p:sp>
        <p:nvSpPr>
          <p:cNvPr id="92" name="error-1">
            <a:extLst xmlns:a="http://schemas.openxmlformats.org/drawingml/2006/main">
              <a:ext uri="{FF2B5EF4-FFF2-40B4-BE49-F238E27FC236}">
                <a16:creationId xmlns:a16="http://schemas.microsoft.com/office/drawing/2014/main" id="{67090DD1-3569-44D5-8ED9-8791C6EF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95575"/>
            <a:ext cx="9620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90500" tIns="114300" rIns="1905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F2933"/>
                </a:solidFill>
                <a:latin typeface="Aptos"/>
                <a:ea typeface="Aptos"/>
                <a:cs typeface="Aptos"/>
              </a:rPr>
              <a:t>✕  Canviar el codi entre IDE</a:t>
            </a:r>
          </a:p>
          <a:p xmlns:a="http://schemas.openxmlformats.org/drawingml/2006/main">
            <a:pPr>
              <a:defRPr sz="150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F2933"/>
                </a:solidFill>
                <a:latin typeface="Aptos"/>
                <a:ea typeface="Aptos"/>
                <a:cs typeface="Aptos"/>
              </a:rPr>
              <a:t>✓  Solució: conservar el mateix commit o carpeta.</a:t>
            </a:r>
          </a:p>
        </p:txBody>
      </p:sp>
      <p:sp>
        <p:nvSpPr>
          <p:cNvPr id="93" name="error-2">
            <a:extLst xmlns:a="http://schemas.openxmlformats.org/drawingml/2006/main">
              <a:ext uri="{FF2B5EF4-FFF2-40B4-BE49-F238E27FC236}">
                <a16:creationId xmlns:a16="http://schemas.microsoft.com/office/drawing/2014/main" id="{90C48C2E-C49C-4C7D-887E-47D3F0AC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95700"/>
            <a:ext cx="9620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90500" tIns="114300" rIns="1905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F2933"/>
                </a:solidFill>
                <a:latin typeface="Aptos"/>
                <a:ea typeface="Aptos"/>
                <a:cs typeface="Aptos"/>
              </a:rPr>
              <a:t>✕  Instal·lar extensions sense criteri</a:t>
            </a:r>
          </a:p>
          <a:p xmlns:a="http://schemas.openxmlformats.org/drawingml/2006/main">
            <a:pPr>
              <a:defRPr sz="150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F2933"/>
                </a:solidFill>
                <a:latin typeface="Aptos"/>
                <a:ea typeface="Aptos"/>
                <a:cs typeface="Aptos"/>
              </a:rPr>
              <a:t>✓  Solució: afegir, provar i eliminar amb registre.</a:t>
            </a:r>
          </a:p>
        </p:txBody>
      </p:sp>
      <p:sp>
        <p:nvSpPr>
          <p:cNvPr id="94" name="error-3">
            <a:extLst xmlns:a="http://schemas.openxmlformats.org/drawingml/2006/main">
              <a:ext uri="{FF2B5EF4-FFF2-40B4-BE49-F238E27FC236}">
                <a16:creationId xmlns:a16="http://schemas.microsoft.com/office/drawing/2014/main" id="{8C4B8339-F00A-4C60-8502-8A10ECB4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95825"/>
            <a:ext cx="9620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90500" tIns="114300" rIns="1905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F2933"/>
                </a:solidFill>
                <a:latin typeface="Aptos"/>
                <a:ea typeface="Aptos"/>
                <a:cs typeface="Aptos"/>
              </a:rPr>
              <a:t>✕  Actualitzar sense reconstruir</a:t>
            </a:r>
          </a:p>
          <a:p xmlns:a="http://schemas.openxmlformats.org/drawingml/2006/main">
            <a:pPr>
              <a:defRPr sz="150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F2933"/>
                </a:solidFill>
                <a:latin typeface="Aptos"/>
                <a:ea typeface="Aptos"/>
                <a:cs typeface="Aptos"/>
              </a:rPr>
              <a:t>✓  Solució: actualitzar, provar i anotar el resultat.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Repte de laboratori: deixa proves, no només captures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0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c0ea2e0ec499d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1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426df938d4eed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challenge">
            <a:extLst xmlns:a="http://schemas.openxmlformats.org/drawingml/2006/main">
              <a:ext uri="{FF2B5EF4-FFF2-40B4-BE49-F238E27FC236}">
                <a16:creationId xmlns:a16="http://schemas.microsoft.com/office/drawing/2014/main" id="{59137581-214C-4103-8B52-D8B8C8DC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714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0E2841"/>
                </a:solidFill>
                <a:latin typeface="Aptos"/>
                <a:ea typeface="Aptos"/>
                <a:cs typeface="Aptos"/>
              </a:rPr>
              <a:t>ESCENARI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0E2841"/>
                </a:solidFill>
                <a:latin typeface="Aptos"/>
                <a:ea typeface="Aptos"/>
                <a:cs typeface="Aptos"/>
              </a:rPr>
              <a:t>Una empresa rep un ordinador nou. Has de deixar preparats VS Code i IntelliJ IDEA per a un projecte Java.</a:t>
            </a:r>
          </a:p>
        </p:txBody>
      </p:sp>
      <p:sp>
        <p:nvSpPr>
          <p:cNvPr id="92" name="evidence">
            <a:extLst xmlns:a="http://schemas.openxmlformats.org/drawingml/2006/main">
              <a:ext uri="{FF2B5EF4-FFF2-40B4-BE49-F238E27FC236}">
                <a16:creationId xmlns:a16="http://schemas.microsoft.com/office/drawing/2014/main" id="{68A0EF55-65FA-4BAF-9974-26D6C6B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76044"/>
                </a:solidFill>
                <a:latin typeface="Aptos"/>
                <a:ea typeface="Aptos"/>
                <a:cs typeface="Aptos"/>
              </a:rPr>
              <a:t>LLIURAMENT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76044"/>
                </a:solidFill>
                <a:latin typeface="Aptos"/>
                <a:ea typeface="Aptos"/>
                <a:cs typeface="Aptos"/>
              </a:rPr>
              <a:t>• versions i llicències</a:t>
            </a:r>
          </a:p>
          <a:p xmlns:a="http://schemas.openxmlformats.org/drawingml/2006/main">
            <a:pPr>
              <a:defRPr sz="1650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76044"/>
                </a:solidFill>
                <a:latin typeface="Aptos"/>
                <a:ea typeface="Aptos"/>
                <a:cs typeface="Aptos"/>
              </a:rPr>
              <a:t>• extensions/plugins</a:t>
            </a:r>
          </a:p>
          <a:p xmlns:a="http://schemas.openxmlformats.org/drawingml/2006/main">
            <a:pPr>
              <a:defRPr sz="1650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76044"/>
                </a:solidFill>
                <a:latin typeface="Aptos"/>
                <a:ea typeface="Aptos"/>
                <a:cs typeface="Aptos"/>
              </a:rPr>
              <a:t>• configuració i actualització</a:t>
            </a:r>
          </a:p>
          <a:p xmlns:a="http://schemas.openxmlformats.org/drawingml/2006/main">
            <a:pPr>
              <a:defRPr sz="1650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76044"/>
                </a:solidFill>
                <a:latin typeface="Aptos"/>
                <a:ea typeface="Aptos"/>
                <a:cs typeface="Aptos"/>
              </a:rPr>
              <a:t>• dos JAR i informe comparatiu</a:t>
            </a:r>
          </a:p>
        </p:txBody>
      </p:sp>
      <p:sp>
        <p:nvSpPr>
          <p:cNvPr id="93" name="rubric">
            <a:extLst xmlns:a="http://schemas.openxmlformats.org/drawingml/2006/main">
              <a:ext uri="{FF2B5EF4-FFF2-40B4-BE49-F238E27FC236}">
                <a16:creationId xmlns:a16="http://schemas.microsoft.com/office/drawing/2014/main" id="{6DB22CBE-38EB-4655-A89E-ED8968A4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714625" cy="2857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5E9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RA2.a–g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observable</a:t>
            </a:r>
          </a:p>
          <a:p xmlns:a="http://schemas.openxmlformats.org/drawingml/2006/main">
            <a:pPr algn="ctr">
              <a:defRPr sz="187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repetible</a:t>
            </a:r>
          </a:p>
          <a:p xmlns:a="http://schemas.openxmlformats.org/drawingml/2006/main">
            <a:pPr algn="ctr">
              <a:defRPr sz="187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argumentat</a:t>
            </a:r>
          </a:p>
        </p:txBody>
      </p:sp>
      <p:sp>
        <p:nvSpPr>
          <p:cNvPr id="94" name="challenge-question">
            <a:extLst xmlns:a="http://schemas.openxmlformats.org/drawingml/2006/main">
              <a:ext uri="{FF2B5EF4-FFF2-40B4-BE49-F238E27FC236}">
                <a16:creationId xmlns:a16="http://schemas.microsoft.com/office/drawing/2014/main" id="{2A57DF9B-22EA-49CC-AE68-9A197C99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1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Quina evidència convençeria una altra persona que el teu entorn està ben preparat?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CBBD9A3-4061-463C-B142-2F34A73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C950093-388C-484B-8F2C-8F1B8EE4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02DB5F1-9D38-4062-B791-2BBDE0FA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7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7E37044C-C841-457F-BF12-3F000AE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6D258613-BEFA-4BDF-8B20-D0D0129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Tres idees per endur-te de la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0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26961e0dd44e3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1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fdd7f3f084f3c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ED · UP1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1r DAW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summary-1">
            <a:extLst xmlns:a="http://schemas.openxmlformats.org/drawingml/2006/main">
              <a:ext uri="{FF2B5EF4-FFF2-40B4-BE49-F238E27FC236}">
                <a16:creationId xmlns:a16="http://schemas.microsoft.com/office/drawing/2014/main" id="{EC07C640-7017-42F7-B485-E1AEAB73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1F5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01</a:t>
            </a:r>
          </a:p>
          <a:p xmlns:a="http://schemas.openxmlformats.org/drawingml/2006/main">
            <a:pPr algn="ctr">
              <a:defRPr sz="1725" b="1">
                <a:solidFill>
                  <a:srgbClr val="0E28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2841"/>
                </a:solidFill>
                <a:latin typeface="Aptos"/>
                <a:ea typeface="Aptos"/>
                <a:cs typeface="Aptos"/>
              </a:rPr>
              <a:t>Un IDE és un sistema de treball, no només un editor.</a:t>
            </a:r>
          </a:p>
        </p:txBody>
      </p:sp>
      <p:sp>
        <p:nvSpPr>
          <p:cNvPr id="92" name="summary-2">
            <a:extLst xmlns:a="http://schemas.openxmlformats.org/drawingml/2006/main">
              <a:ext uri="{FF2B5EF4-FFF2-40B4-BE49-F238E27FC236}">
                <a16:creationId xmlns:a16="http://schemas.microsoft.com/office/drawing/2014/main" id="{B09F67D2-11A1-4F27-99F0-98A14F8D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DF1EA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02</a:t>
            </a:r>
          </a:p>
          <a:p xmlns:a="http://schemas.openxmlformats.org/drawingml/2006/main">
            <a:pPr algn="ctr">
              <a:defRPr sz="1725" b="1">
                <a:solidFill>
                  <a:srgbClr val="8760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876044"/>
                </a:solidFill>
                <a:latin typeface="Aptos"/>
                <a:ea typeface="Aptos"/>
                <a:cs typeface="Aptos"/>
              </a:rPr>
              <a:t>Una instal·lació útil es demostra amb una construcció.</a:t>
            </a:r>
          </a:p>
        </p:txBody>
      </p:sp>
      <p:sp>
        <p:nvSpPr>
          <p:cNvPr id="93" name="summary-3">
            <a:extLst xmlns:a="http://schemas.openxmlformats.org/drawingml/2006/main">
              <a:ext uri="{FF2B5EF4-FFF2-40B4-BE49-F238E27FC236}">
                <a16:creationId xmlns:a16="http://schemas.microsoft.com/office/drawing/2014/main" id="{45325062-5BFA-44CB-84F6-C0CA593C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F5E9"/>
          </a:solidFill>
          <a:ln xmlns:a="http://schemas.openxmlformats.org/drawingml/2006/main" w="13335">
            <a:solidFill>
              <a:srgbClr val="CBD5DB"/>
            </a:solidFill>
            <a:prstDash val="solid"/>
          </a:ln>
        </p:spPr>
        <p:txBody>
          <a:bodyPr xmlns:a="http://schemas.openxmlformats.org/drawingml/2006/main" lIns="171450" tIns="171450" rIns="17145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03</a:t>
            </a:r>
          </a:p>
          <a:p xmlns:a="http://schemas.openxmlformats.org/drawingml/2006/main">
            <a:pPr algn="ctr">
              <a:defRPr sz="1725" b="1">
                <a:solidFill>
                  <a:srgbClr val="196B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96B24"/>
                </a:solidFill>
                <a:latin typeface="Aptos"/>
                <a:ea typeface="Aptos"/>
                <a:cs typeface="Aptos"/>
              </a:rPr>
              <a:t>Comparar és controlar variables i justificar decisions.</a:t>
            </a:r>
          </a:p>
        </p:txBody>
      </p:sp>
      <p:sp>
        <p:nvSpPr>
          <p:cNvPr id="94" name="exit-ticket">
            <a:extLst xmlns:a="http://schemas.openxmlformats.org/drawingml/2006/main">
              <a:ext uri="{FF2B5EF4-FFF2-40B4-BE49-F238E27FC236}">
                <a16:creationId xmlns:a16="http://schemas.microsoft.com/office/drawing/2014/main" id="{D18A68E5-79E6-4B46-BAEF-D0652873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608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6082"/>
                </a:solidFill>
                <a:latin typeface="Aptos"/>
                <a:ea typeface="Aptos"/>
                <a:cs typeface="Aptos"/>
              </a:rPr>
              <a:t>Eixida: explica en una frase què comprovaries abans de dir «el meu IDE funciona». </a:t>
            </a:r>
          </a:p>
        </p:txBody>
      </p:sp>
    </p:spTree>
    <p:extLst>
      <p:ext uri="{BB962C8B-B14F-4D97-AF65-F5344CB8AC3E}">
        <p14:creationId xmlns:p14="http://schemas.microsoft.com/office/powerpoint/2010/main" val="13467645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2026-09-09T10:12:08.1020000Z</dcterms:created>
  <dcterms:modified xsi:type="dcterms:W3CDTF">2026-09-09T10:12:08.1020000Z</dcterms:modified>
</coreProperties>
</file>