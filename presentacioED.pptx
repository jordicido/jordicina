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7b20dd10054e95" /><Relationship Type="http://schemas.openxmlformats.org/officeDocument/2006/relationships/extended-properties" Target="/docProps/app.xml" Id="Rbb74f706fc2c45f0" /><Relationship Type="http://schemas.openxmlformats.org/officeDocument/2006/relationships/officeDocument" Target="/ppt/presentation.xml" Id="R2b1ee34b8ccc47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73c7a50f7e4b77"/>
  </p:sldMasterIdLst>
  <p:notesMasterIdLst>
    <p:notesMasterId xmlns:r="http://schemas.openxmlformats.org/officeDocument/2006/relationships" r:id="Rf24b9a310b714069"/>
  </p:notesMasterIdLst>
  <p:sldIdLst>
    <p:sldId xmlns:r="http://schemas.openxmlformats.org/officeDocument/2006/relationships" id="256" r:id="R7601e7b881644e50"/>
    <p:sldId xmlns:r="http://schemas.openxmlformats.org/officeDocument/2006/relationships" id="257" r:id="R5f5b9a5026334916"/>
    <p:sldId xmlns:r="http://schemas.openxmlformats.org/officeDocument/2006/relationships" id="258" r:id="R8bfb516bf3394108"/>
    <p:sldId xmlns:r="http://schemas.openxmlformats.org/officeDocument/2006/relationships" id="259" r:id="Ra054843e01644c99"/>
    <p:sldId xmlns:r="http://schemas.openxmlformats.org/officeDocument/2006/relationships" id="260" r:id="Rc26b609e497141e1"/>
    <p:sldId xmlns:r="http://schemas.openxmlformats.org/officeDocument/2006/relationships" id="261" r:id="R20d18f363add4039"/>
    <p:sldId xmlns:r="http://schemas.openxmlformats.org/officeDocument/2006/relationships" id="262" r:id="Ra2f8dd19ba5e48ec"/>
    <p:sldId xmlns:r="http://schemas.openxmlformats.org/officeDocument/2006/relationships" id="263" r:id="R7f84e048b2084cdd"/>
    <p:sldId xmlns:r="http://schemas.openxmlformats.org/officeDocument/2006/relationships" id="264" r:id="R2b4dba848ca5437a"/>
    <p:sldId xmlns:r="http://schemas.openxmlformats.org/officeDocument/2006/relationships" id="265" r:id="R8cdc823eae3542a1"/>
    <p:sldId xmlns:r="http://schemas.openxmlformats.org/officeDocument/2006/relationships" id="266" r:id="R1796dc5fa4d34d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a5f304f664fcd" /><Relationship Type="http://schemas.openxmlformats.org/officeDocument/2006/relationships/slideMaster" Target="/ppt/slideMasters/slideMaster1.xml" Id="R9673c7a50f7e4b77" /><Relationship Type="http://schemas.openxmlformats.org/officeDocument/2006/relationships/notesMaster" Target="/ppt/notesMasters/notesMaster1.xml" Id="Rf24b9a310b714069" /><Relationship Type="http://schemas.openxmlformats.org/officeDocument/2006/relationships/presProps" Target="/ppt/presProps.xml" Id="R8616409d05eb4b5a" /><Relationship Type="http://schemas.openxmlformats.org/officeDocument/2006/relationships/viewProps" Target="/ppt/viewProps.xml" Id="Rc2da9fc7cc7e4fe0" /><Relationship Type="http://schemas.openxmlformats.org/officeDocument/2006/relationships/tableStyles" Target="/ppt/tableStyles.xml" Id="R57c0b0521dd84ac0" /><Relationship Type="http://schemas.openxmlformats.org/officeDocument/2006/relationships/slide" Target="/ppt/slides/slide1.xml" Id="R7601e7b881644e50" /><Relationship Type="http://schemas.openxmlformats.org/officeDocument/2006/relationships/slide" Target="/ppt/slides/slide2.xml" Id="R5f5b9a5026334916" /><Relationship Type="http://schemas.openxmlformats.org/officeDocument/2006/relationships/slide" Target="/ppt/slides/slide3.xml" Id="R8bfb516bf3394108" /><Relationship Type="http://schemas.openxmlformats.org/officeDocument/2006/relationships/slide" Target="/ppt/slides/slide4.xml" Id="Ra054843e01644c99" /><Relationship Type="http://schemas.openxmlformats.org/officeDocument/2006/relationships/slide" Target="/ppt/slides/slide5.xml" Id="Rc26b609e497141e1" /><Relationship Type="http://schemas.openxmlformats.org/officeDocument/2006/relationships/slide" Target="/ppt/slides/slide6.xml" Id="R20d18f363add4039" /><Relationship Type="http://schemas.openxmlformats.org/officeDocument/2006/relationships/slide" Target="/ppt/slides/slide7.xml" Id="Ra2f8dd19ba5e48ec" /><Relationship Type="http://schemas.openxmlformats.org/officeDocument/2006/relationships/slide" Target="/ppt/slides/slide8.xml" Id="R7f84e048b2084cdd" /><Relationship Type="http://schemas.openxmlformats.org/officeDocument/2006/relationships/slide" Target="/ppt/slides/slide9.xml" Id="R2b4dba848ca5437a" /><Relationship Type="http://schemas.openxmlformats.org/officeDocument/2006/relationships/slide" Target="/ppt/slides/slide10.xml" Id="R8cdc823eae3542a1" /><Relationship Type="http://schemas.openxmlformats.org/officeDocument/2006/relationships/slide" Target="/ppt/slides/slide11.xml" Id="R1796dc5fa4d34d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56082be1e947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75474e4f54454" /><Relationship Type="http://schemas.openxmlformats.org/officeDocument/2006/relationships/notesMaster" Target="/ppt/notesMasters/notesMaster1.xml" Id="R1c56f0e66d8e45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a277c375db4573" /><Relationship Type="http://schemas.openxmlformats.org/officeDocument/2006/relationships/notesMaster" Target="/ppt/notesMasters/notesMaster1.xml" Id="R0b37b6fc280c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83f59a437445af" /><Relationship Type="http://schemas.openxmlformats.org/officeDocument/2006/relationships/notesMaster" Target="/ppt/notesMasters/notesMaster1.xml" Id="R0c78bd070a1847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bcc7995144c96" /><Relationship Type="http://schemas.openxmlformats.org/officeDocument/2006/relationships/notesMaster" Target="/ppt/notesMasters/notesMaster1.xml" Id="R694dd1bffeb54e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0fabb388148d6" /><Relationship Type="http://schemas.openxmlformats.org/officeDocument/2006/relationships/notesMaster" Target="/ppt/notesMasters/notesMaster1.xml" Id="Ra46e7577e481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55784bb7e44e31" /><Relationship Type="http://schemas.openxmlformats.org/officeDocument/2006/relationships/notesMaster" Target="/ppt/notesMasters/notesMaster1.xml" Id="Rb4a780c9571748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b26551a9846e1" /><Relationship Type="http://schemas.openxmlformats.org/officeDocument/2006/relationships/notesMaster" Target="/ppt/notesMasters/notesMaster1.xml" Id="Rf076e0300c9a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9312c9f91c4312" /><Relationship Type="http://schemas.openxmlformats.org/officeDocument/2006/relationships/notesMaster" Target="/ppt/notesMasters/notesMaster1.xml" Id="Rc4f5d6a53b3644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4cbe78165c4908" /><Relationship Type="http://schemas.openxmlformats.org/officeDocument/2006/relationships/notesMaster" Target="/ppt/notesMasters/notesMaster1.xml" Id="R1d8c6b9644f145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4faa596df84964" /><Relationship Type="http://schemas.openxmlformats.org/officeDocument/2006/relationships/notesMaster" Target="/ppt/notesMasters/notesMaster1.xml" Id="R28a54e9546fe40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1707f50f3d4420" /><Relationship Type="http://schemas.openxmlformats.org/officeDocument/2006/relationships/notesMaster" Target="/ppt/notesMasters/notesMaster1.xml" Id="Rdbd6f32fea5d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[Sources]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- Plantilla, logos i identitat visual: fitxer proporcionat per l'usuari, formatIESMRE.pptx.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- Contingut: síntesi didàctica creada a partir del briefing de l'usuari; no s'han utilitzat fonts externes.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>
              <a:buNone/>
            </a:pPr>
            <a:r>
              <a:t>- La portada presenta el mòdul i situa el grup de 1r DAW.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  <a:p xmlns:a="http://schemas.openxmlformats.org/drawingml/2006/main">
            <a:r>
              <a:t>- L'índex anticipa una progressió: sentit, aprenentatge, procés i aplicació.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Plantilla, logos i identitat visual: fitxer proporcionat per l'usuari, formatIESMRE.pptx.</a:t>
            </a:r>
          </a:p>
          <a:p xmlns:a="http://schemas.openxmlformats.org/drawingml/2006/main">
            <a:r>
              <a:t>- Contingut: síntesi didàctica creada a partir del briefing de l'usuari; no s'han utilitzat fonts externes.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084ee20dd45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eb7b0fdb845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306aa011345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791a0da6140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39208f08744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20f37897b42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449b4109f42b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ae762cb554e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cf8ea794548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9b622737b419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e45f0bbd94da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06f55cce94fd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e2e7f201847b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96786A-8DDB-44E6-965A-F635B427C1A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B69CEF9-FC49-4157-A742-5598C54E1D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75CCFC-A6D8-4388-AB71-D44DB9F63E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D8FE00-30BB-4211-B68D-029839A337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4C2250-0A17-4AD0-A9CE-78264DEB12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F29378-3047-44CA-9852-61EFD69F0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1A8B9-E7D9-4228-8A28-C00A00A58A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5B3CCD-C10B-48AD-81AB-4A5003AAE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D8297B-C5A3-4372-B5A2-2671EC42C9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521F05-100B-44E0-9C8A-741CE6457A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6AEB74-28E0-449D-85F6-3657B25A2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F29480-E393-4359-BCBC-0EE30166CA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C1E5FD-16C3-43AA-9F61-25115FB95A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6546CE-C1A7-4311-A588-A607D9A471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14EFE8-F3F4-444B-8D54-D81CEC42A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991EEB-6940-4BBA-926C-A2771719D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6C701C-DCAE-4F82-ACE3-4FDDE945B1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C759D1-25DA-4860-9685-8D8AD64BF04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0F0389-289A-4644-8E63-1E9AD665D7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A3FD98-F2F8-4AAB-90B9-C01551B594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B0CD7C-5014-4001-8F09-679474EEF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A2EB78-5923-4276-A8CC-68AC39E09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18DAD2-D835-4CF7-8252-EC4EBF4A2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AB81FE-F10B-42BF-AE8B-AFADD2A346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E430C57-DA79-4500-B9AF-9350550E26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F466ADF-28D0-40FB-AC0E-4994E0FB2A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A6DD62A-3AAF-45C1-9499-7DEA32A266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A17C38-EA0A-43B4-A21D-E28A4ACA27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016E8CA-B822-4473-BDB4-824BC9B37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F869BF-9669-48D7-9F69-D8CEB2336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F33AB11-4AB2-486C-8703-74EC740601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0DFB0FA-4DCB-42E5-995F-38761E21A7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8C5F3DE-95B5-4FAE-8DEF-64B00CDCD4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FA30D11-FBE4-4E72-BFFE-167EACD05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E8B555A-84A3-48F8-B28A-FCB325235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198DD41-6CA6-4E56-B38C-4C3A5CD75D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102F28-277A-4956-A1A0-AAD341878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6C36CE-F2B0-43A7-9269-85F0B1154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2D7841A-5C1F-43FE-AF86-930730902E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DFA2FB-3197-47A6-AFF3-0B2489D778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6B347-3AA4-4446-A4D2-7E46536666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5EA888-E84A-4567-A3E5-C77EA70624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BE8423-F835-4E6B-A34C-152369735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732C90-D018-416D-8FB1-C37588C5749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92457C-AC8F-4452-BD5E-1AA3A5B66F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A0DBDDE-9274-4553-9AE3-671D2CD68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C54881-354E-4237-A9B6-C176C17C72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6279C-78BB-4F6F-904C-305F55371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AC8CF-68E0-4F0D-A56A-6F1954E64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DA3E99-3275-4E0D-892A-8CEFDDFAE5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8B1D4B-CB7A-4633-92EE-F42B4C5037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35A112-E730-40C9-97DC-E0BD0E4888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0328D0-1E3A-42FD-8FD9-ACE39020D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AE4AE82-865B-4552-B02F-1EB64DAE1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063877-DB0F-4A27-A1DE-351D89D73D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82FAD3-177D-488B-B659-CFC1B42A89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C1E251-A71A-427F-BDEF-333EC587A3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31B020-7FD1-4C60-9245-1191AECA8E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Diapositiva de títul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5674D6A-AEAF-4670-B595-1940BC5B3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1122480"/>
            <a:ext cx="9143640" cy="238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algn="ctr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Haga clic para modificar el estilo de título del patrón</a:t>
            </a:r>
            <a:endParaRPr sz="6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B8B34F0-299E-421B-A1F0-DB3327FEC831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8380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19B7E86-3D68-4679-B320-77D7039BDFF6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4038480" y="6356520"/>
            <a:ext cx="41144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E5E0A6A-8DB6-4A37-9184-0C12986B4510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86104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r" defTabSz="914400">
              <a:lnSpc>
                <a:spcPct val="100000"/>
              </a:lnSpc>
              <a:buNone/>
            </a:pPr>
            <a:fld id="{B8DBDD7B-55F7-4E81-99D6-871B72DE8D09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12B4787-DACD-44DF-966A-FB148D55352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 xmlns:a="http://schemas.openxmlformats.org/drawingml/2006/main"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 xmlns:a="http://schemas.openxmlformats.org/drawingml/2006/main"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 xmlns:a="http://schemas.openxmlformats.org/drawingml/2006/main"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 xmlns:a="http://schemas.openxmlformats.org/drawingml/2006/main"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 xmlns:a="http://schemas.openxmlformats.org/drawingml/2006/main"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En blanc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4DD402E-1AE7-4B98-9313-F6167DB9857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8380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8A5DB1-FA00-4A24-A9B5-A69AD90FD788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4038480" y="6356520"/>
            <a:ext cx="41144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C0D730E-769E-4E65-9779-D0C0C165651D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610480" y="6356520"/>
            <a:ext cx="274284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r" defTabSz="914400">
              <a:lnSpc>
                <a:spcPct val="100000"/>
              </a:lnSpc>
              <a:buNone/>
            </a:pPr>
            <a:fld id="{7FBF5B81-499C-4B1F-BD1D-B740ABE19A3E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4EBE731-975D-44D5-8511-CEB147B44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4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AFDE741-71E5-40C4-97BD-4714C0ECE7B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 xmlns:a="http://schemas.openxmlformats.org/drawingml/2006/main"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 xmlns:a="http://schemas.openxmlformats.org/drawingml/2006/main"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 xmlns:a="http://schemas.openxmlformats.org/drawingml/2006/main"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 xmlns:a="http://schemas.openxmlformats.org/drawingml/2006/main"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 xmlns:a="http://schemas.openxmlformats.org/drawingml/2006/main"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9b2ce67894baa" /><Relationship Type="http://schemas.openxmlformats.org/officeDocument/2006/relationships/slideLayout" Target="/ppt/slideLayouts/slideLayout1.xml" Id="R43bdb508cc0a44df" /><Relationship Type="http://schemas.openxmlformats.org/officeDocument/2006/relationships/slideLayout" Target="/ppt/slideLayouts/slideLayout2.xml" Id="R443be61d7a6b4857" /><Relationship Type="http://schemas.openxmlformats.org/officeDocument/2006/relationships/slideLayout" Target="/ppt/slideLayouts/slideLayout3.xml" Id="R145e3fec449e4a6c" /><Relationship Type="http://schemas.openxmlformats.org/officeDocument/2006/relationships/slideLayout" Target="/ppt/slideLayouts/slideLayout4.xml" Id="R44f568c947c74faf" /><Relationship Type="http://schemas.openxmlformats.org/officeDocument/2006/relationships/slideLayout" Target="/ppt/slideLayouts/slideLayout5.xml" Id="R1adbcccc62c84b5c" /><Relationship Type="http://schemas.openxmlformats.org/officeDocument/2006/relationships/slideLayout" Target="/ppt/slideLayouts/slideLayout6.xml" Id="R11c2e769304541dd" /><Relationship Type="http://schemas.openxmlformats.org/officeDocument/2006/relationships/slideLayout" Target="/ppt/slideLayouts/slideLayout7.xml" Id="R97c730ce9397445e" /><Relationship Type="http://schemas.openxmlformats.org/officeDocument/2006/relationships/slideLayout" Target="/ppt/slideLayouts/slideLayout8.xml" Id="R7667cd9a3ebd4d9c" /><Relationship Type="http://schemas.openxmlformats.org/officeDocument/2006/relationships/slideLayout" Target="/ppt/slideLayouts/slideLayout9.xml" Id="R3f70762d35d547f0" /><Relationship Type="http://schemas.openxmlformats.org/officeDocument/2006/relationships/slideLayout" Target="/ppt/slideLayouts/slideLayout10.xml" Id="R2fb03f799c3141cb" /><Relationship Type="http://schemas.openxmlformats.org/officeDocument/2006/relationships/slideLayout" Target="/ppt/slideLayouts/slideLayout11.xml" Id="R9502ebc4a4824084" /><Relationship Type="http://schemas.openxmlformats.org/officeDocument/2006/relationships/slideLayout" Target="/ppt/slideLayouts/slideLayout12.xml" Id="R0e90fd9d947c469f" /><Relationship Type="http://schemas.openxmlformats.org/officeDocument/2006/relationships/slideLayout" Target="/ppt/slideLayouts/slideLayout13.xml" Id="R1cf7d7bbeabb40a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7131E3B-E69F-4B88-AE29-510590D4B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BC5DA4-BF83-471B-8D20-0E20DA483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5AE4D6-ECED-405F-A47F-BA534FCF8A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6CE7D5-CF57-46EF-B807-FDD0502418D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5DBA6-B526-429B-B513-35C5D09803B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820BF7-1AAE-469B-A988-2AA4657B3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30EA680-D336-4FF7-8B7A-9848BB0A1C3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bdb508cc0a44df"/>
    <p:sldLayoutId xmlns:r="http://schemas.openxmlformats.org/officeDocument/2006/relationships" id="2147483650" r:id="R443be61d7a6b4857"/>
    <p:sldLayoutId xmlns:r="http://schemas.openxmlformats.org/officeDocument/2006/relationships" id="2147483651" r:id="R145e3fec449e4a6c"/>
    <p:sldLayoutId xmlns:r="http://schemas.openxmlformats.org/officeDocument/2006/relationships" id="2147483652" r:id="R44f568c947c74faf"/>
    <p:sldLayoutId xmlns:r="http://schemas.openxmlformats.org/officeDocument/2006/relationships" id="2147483653" r:id="R1adbcccc62c84b5c"/>
    <p:sldLayoutId xmlns:r="http://schemas.openxmlformats.org/officeDocument/2006/relationships" id="2147483654" r:id="R11c2e769304541dd"/>
    <p:sldLayoutId xmlns:r="http://schemas.openxmlformats.org/officeDocument/2006/relationships" id="2147483655" r:id="R97c730ce9397445e"/>
    <p:sldLayoutId xmlns:r="http://schemas.openxmlformats.org/officeDocument/2006/relationships" id="2147483656" r:id="R7667cd9a3ebd4d9c"/>
    <p:sldLayoutId xmlns:r="http://schemas.openxmlformats.org/officeDocument/2006/relationships" id="2147483657" r:id="R3f70762d35d547f0"/>
    <p:sldLayoutId xmlns:r="http://schemas.openxmlformats.org/officeDocument/2006/relationships" id="2147483658" r:id="R2fb03f799c3141cb"/>
    <p:sldLayoutId xmlns:r="http://schemas.openxmlformats.org/officeDocument/2006/relationships" id="2147483659" r:id="R9502ebc4a4824084"/>
    <p:sldLayoutId xmlns:r="http://schemas.openxmlformats.org/officeDocument/2006/relationships" id="2147483660" r:id="R0e90fd9d947c469f"/>
    <p:sldLayoutId xmlns:r="http://schemas.openxmlformats.org/officeDocument/2006/relationships" id="2147483661" r:id="R1cf7d7bbeabb40a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5e6ea57e12443d1" /><Relationship Type="http://schemas.openxmlformats.org/officeDocument/2006/relationships/image" Target="/ppt/media/image.png" Id="Recfb27fb19d04cb0" /><Relationship Type="http://schemas.openxmlformats.org/officeDocument/2006/relationships/image" Target="/ppt/media/image2.png" Id="R590ed360c6c446e3" /><Relationship Type="http://schemas.openxmlformats.org/officeDocument/2006/relationships/image" Target="/ppt/media/image3.png" Id="R40f1258b881945e8" /><Relationship Type="http://schemas.openxmlformats.org/officeDocument/2006/relationships/notesSlide" Target="/ppt/notesSlides/notesSlide1.xml" Id="R8b7b1559dc9242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7de05c96fc744b0" /><Relationship Type="http://schemas.openxmlformats.org/officeDocument/2006/relationships/image" Target="/ppt/media/image4.png" Id="R28c6ac5e44784874" /><Relationship Type="http://schemas.openxmlformats.org/officeDocument/2006/relationships/image" Target="/ppt/media/image5.png" Id="R1397c08fdc454a75" /><Relationship Type="http://schemas.openxmlformats.org/officeDocument/2006/relationships/notesSlide" Target="/ppt/notesSlides/notesSlide2.xml" Id="R661485d1d4f6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c646e0e91e24568" /><Relationship Type="http://schemas.openxmlformats.org/officeDocument/2006/relationships/image" Target="/ppt/media/image5.png" Id="Rbfa710f798744247" /><Relationship Type="http://schemas.openxmlformats.org/officeDocument/2006/relationships/image" Target="/ppt/media/image4.png" Id="R552b0dc1a9c44df0" /><Relationship Type="http://schemas.openxmlformats.org/officeDocument/2006/relationships/notesSlide" Target="/ppt/notesSlides/notesSlide3.xml" Id="R4c6d38bff5d8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97b928943f54515" /><Relationship Type="http://schemas.openxmlformats.org/officeDocument/2006/relationships/image" Target="/ppt/media/image5.png" Id="Rd3dcc935ca5d48be" /><Relationship Type="http://schemas.openxmlformats.org/officeDocument/2006/relationships/image" Target="/ppt/media/image4.png" Id="Rae6548da9a314a40" /><Relationship Type="http://schemas.openxmlformats.org/officeDocument/2006/relationships/notesSlide" Target="/ppt/notesSlides/notesSlide4.xml" Id="R3231adbbb65f46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3a04ec42f714ef2" /><Relationship Type="http://schemas.openxmlformats.org/officeDocument/2006/relationships/image" Target="/ppt/media/image5.png" Id="Rcd24e3d3f8724f7b" /><Relationship Type="http://schemas.openxmlformats.org/officeDocument/2006/relationships/image" Target="/ppt/media/image4.png" Id="R5c0d527e64bd4c76" /><Relationship Type="http://schemas.openxmlformats.org/officeDocument/2006/relationships/notesSlide" Target="/ppt/notesSlides/notesSlide5.xml" Id="R8f13cc3f0e5d44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69fd51383bc442f" /><Relationship Type="http://schemas.openxmlformats.org/officeDocument/2006/relationships/image" Target="/ppt/media/image5.png" Id="Re09bd584297241c6" /><Relationship Type="http://schemas.openxmlformats.org/officeDocument/2006/relationships/image" Target="/ppt/media/image4.png" Id="Read7be4128fb40b9" /><Relationship Type="http://schemas.openxmlformats.org/officeDocument/2006/relationships/notesSlide" Target="/ppt/notesSlides/notesSlide6.xml" Id="R7c3991288951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29d111e6a784ef6" /><Relationship Type="http://schemas.openxmlformats.org/officeDocument/2006/relationships/image" Target="/ppt/media/image5.png" Id="R0ffb4bf4126148e7" /><Relationship Type="http://schemas.openxmlformats.org/officeDocument/2006/relationships/image" Target="/ppt/media/image4.png" Id="R18b72592ac2f4438" /><Relationship Type="http://schemas.openxmlformats.org/officeDocument/2006/relationships/notesSlide" Target="/ppt/notesSlides/notesSlide7.xml" Id="R978e1f26dd59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1374192257d401b" /><Relationship Type="http://schemas.openxmlformats.org/officeDocument/2006/relationships/image" Target="/ppt/media/image5.png" Id="Rfc71bac338ea466c" /><Relationship Type="http://schemas.openxmlformats.org/officeDocument/2006/relationships/image" Target="/ppt/media/image4.png" Id="Rbba200bf96034ebf" /><Relationship Type="http://schemas.openxmlformats.org/officeDocument/2006/relationships/notesSlide" Target="/ppt/notesSlides/notesSlide8.xml" Id="Re5d6820bd87f43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fccb184a533444e" /><Relationship Type="http://schemas.openxmlformats.org/officeDocument/2006/relationships/image" Target="/ppt/media/image5.png" Id="Rdc0f2fe49d964f7d" /><Relationship Type="http://schemas.openxmlformats.org/officeDocument/2006/relationships/image" Target="/ppt/media/image4.png" Id="R1a994808b616429e" /><Relationship Type="http://schemas.openxmlformats.org/officeDocument/2006/relationships/notesSlide" Target="/ppt/notesSlides/notesSlide9.xml" Id="Ra32ad74b011a42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c15a2e5699742b5" /><Relationship Type="http://schemas.openxmlformats.org/officeDocument/2006/relationships/image" Target="/ppt/media/image5.png" Id="R4ca5f34ae8974860" /><Relationship Type="http://schemas.openxmlformats.org/officeDocument/2006/relationships/image" Target="/ppt/media/image4.png" Id="R81e7a0c2e5d24db4" /><Relationship Type="http://schemas.openxmlformats.org/officeDocument/2006/relationships/notesSlide" Target="/ppt/notesSlides/notesSlide10.xml" Id="R4967c1bf58da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61924dfec28463c" /><Relationship Type="http://schemas.openxmlformats.org/officeDocument/2006/relationships/image" Target="/ppt/media/image5.png" Id="R07dd783478704ac5" /><Relationship Type="http://schemas.openxmlformats.org/officeDocument/2006/relationships/image" Target="/ppt/media/image4.png" Id="R617c4ced914949ca" /><Relationship Type="http://schemas.openxmlformats.org/officeDocument/2006/relationships/notesSlide" Target="/ppt/notesSlides/notesSlide11.xml" Id="R53065c0053e040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B9BE4C9-8E07-4511-A4FD-1925576B2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3880" y="1308960"/>
            <a:ext cx="9143640" cy="222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u="none">
                <a:solidFill>
                  <a:srgbClr val="845C3C"/>
                </a:solidFill>
                <a:latin typeface="Arial"/>
                <a:ea typeface="Arial"/>
                <a:cs typeface="Arial"/>
              </a:rPr>
              <a:t>PRESENTACIÓ D'ED</a:t>
            </a:r>
            <a:endParaRPr sz="5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7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2CD1647-566D-47A3-B307-94A2BE8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40" y="3659400"/>
            <a:ext cx="10580400" cy="45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720" rIns="90000" bIns="72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C480F1E-90DD-45AD-8FF5-16424B5D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7560"/>
            <a:ext cx="12191760" cy="550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b27fb19d04cb0"/>
          <a:srcRect xmlns:a="http://schemas.openxmlformats.org/drawingml/2006/main" l="0" t="169" r="0" b="169"/>
          <a:stretch xmlns:a="http://schemas.openxmlformats.org/drawingml/2006/main"/>
        </p:blipFill>
        <p:spPr>
          <a:xfrm xmlns:a="http://schemas.openxmlformats.org/drawingml/2006/main">
            <a:off x="802440" y="595440"/>
            <a:ext cx="2742840" cy="878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0" name="Imagen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ed360c6c446e3"/>
          <a:srcRect xmlns:a="http://schemas.openxmlformats.org/drawingml/2006/main" l="964" t="0" r="964" b="0"/>
          <a:stretch xmlns:a="http://schemas.openxmlformats.org/drawingml/2006/main"/>
        </p:blipFill>
        <p:spPr>
          <a:xfrm xmlns:a="http://schemas.openxmlformats.org/drawingml/2006/main">
            <a:off x="9069480" y="434160"/>
            <a:ext cx="2742840" cy="1490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81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1258b881945e8"/>
          <a:stretch xmlns:a="http://schemas.openxmlformats.org/drawingml/2006/main"/>
        </p:blipFill>
        <p:spPr>
          <a:xfrm xmlns:a="http://schemas.openxmlformats.org/drawingml/2006/main">
            <a:off x="5283000" y="236880"/>
            <a:ext cx="1619640" cy="15955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315FF41-2FDA-4D30-94C4-A06F4820438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523880" y="4027320"/>
            <a:ext cx="9143640" cy="27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rmAutofit fontScale="99554"/>
          </a:bodyPr>
          <a:lstStyle xmlns:a="http://schemas.openxmlformats.org/drawingml/2006/main"/>
          <a:p xmlns:a="http://schemas.openxmlformats.org/drawingml/2006/main">
            <a:pPr algn="ctr">
              <a:buNone/>
              <a:tabLst>
                <a:tab pos="0" algn="l"/>
              </a:tabLst>
            </a:pPr>
            <a:r>
              <a:rPr sz="28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1º CFGS – DESENROTLLAMENT D'APLICACIONS WEB</a:t>
            </a:r>
            <a:endParaRPr sz="28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tabLst>
                <a:tab pos="0" algn="l"/>
              </a:tabLst>
            </a:pPr>
            <a:r>
              <a:t/>
            </a:r>
            <a:endParaRPr/>
          </a:p>
          <a:p xmlns:a="http://schemas.openxmlformats.org/drawingml/2006/main">
            <a:pPr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t/>
            </a:r>
            <a:endParaRPr sz="210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JORDI CIDONCHA NAVARRETE</a:t>
            </a:r>
            <a:endParaRPr>
              <a:solidFill>
                <a:schemeClr val="dk1"/>
              </a:solidFill>
            </a:endParaRPr>
          </a:p>
          <a:p xmlns:a="http://schemas.openxmlformats.org/drawingml/2006/main">
            <a:pPr algn="ctr"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CURS 2026/27</a:t>
            </a:r>
            <a:endParaRPr sz="24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1634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6ac5e44784874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0D124EB-A76D-4B06-8812-C746DD3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D6E1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5" name="Título 6">
            <a:extLst xmlns:a="http://schemas.openxmlformats.org/drawingml/2006/main">
              <a:ext uri="{FF2B5EF4-FFF2-40B4-BE49-F238E27FC236}">
                <a16:creationId xmlns:a16="http://schemas.microsoft.com/office/drawing/2014/main" id="{861F6872-5D99-435B-ACB4-3DF4207C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35800"/>
            <a:ext cx="840168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90000"/>
              </a:lnSpc>
              <a:buNone/>
            </a:pPr>
            <a:r>
              <a:rPr sz="3000" b="1" u="none">
                <a:solidFill>
                  <a:srgbClr val="1C4C73"/>
                </a:solidFill>
                <a:latin typeface="Arial"/>
                <a:ea typeface="Arial"/>
                <a:cs typeface="Arial"/>
              </a:rPr>
              <a:t>ÍNDEX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745CB4D-B196-4ACD-A39F-01FDD2B9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DDC6725-84A3-4729-A1A5-EBBB59B4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8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CF85D583-4980-4E6C-9CC3-CE4A20D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61D0AFA8-BF84-438E-B7F5-36280515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DB29992C-0267-4FF4-884A-87F4B4CA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" y="1284840"/>
            <a:ext cx="11163960" cy="464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00000"/>
                </a:solidFill>
              </a:rPr>
              <a:t>1. QUÈ ÉS ED?</a:t>
            </a:r>
          </a:p>
          <a:p xmlns:a="http://schemas.openxmlformats.org/drawingml/2006/main">
            <a:r>
              <a:rPr sz="1875">
                <a:solidFill>
                  <a:srgbClr val="000000"/>
                </a:solidFill>
              </a:rPr>
              <a:t>   El mòdul i el seu sentit</a:t>
            </a:r>
          </a:p>
          <a:p xmlns:a="http://schemas.openxmlformats.org/drawingml/2006/main">
            <a:r>
              <a:rPr sz="2100" b="1">
                <a:solidFill>
                  <a:srgbClr val="000000"/>
                </a:solidFill>
              </a:rPr>
              <a:t>2. QUÈ APRENDREM?</a:t>
            </a:r>
          </a:p>
          <a:p xmlns:a="http://schemas.openxmlformats.org/drawingml/2006/main">
            <a:r>
              <a:rPr sz="1875">
                <a:solidFill>
                  <a:srgbClr val="000000"/>
                </a:solidFill>
              </a:rPr>
              <a:t>   Eines, processos i qualitat</a:t>
            </a:r>
          </a:p>
          <a:p xmlns:a="http://schemas.openxmlformats.org/drawingml/2006/main">
            <a:r>
              <a:rPr sz="2100" b="1">
                <a:solidFill>
                  <a:srgbClr val="000000"/>
                </a:solidFill>
              </a:rPr>
              <a:t>3. COM TREBALLAREM?</a:t>
            </a:r>
          </a:p>
          <a:p xmlns:a="http://schemas.openxmlformats.org/drawingml/2006/main">
            <a:r>
              <a:rPr sz="1875">
                <a:solidFill>
                  <a:srgbClr val="000000"/>
                </a:solidFill>
              </a:rPr>
              <a:t>   Del problema al lliurament</a:t>
            </a:r>
          </a:p>
          <a:p xmlns:a="http://schemas.openxmlformats.org/drawingml/2006/main">
            <a:r>
              <a:rPr sz="2100" b="1">
                <a:solidFill>
                  <a:srgbClr val="000000"/>
                </a:solidFill>
              </a:rPr>
              <a:t>4. COM HO APLICAREM?</a:t>
            </a:r>
          </a:p>
          <a:p xmlns:a="http://schemas.openxmlformats.org/drawingml/2006/main">
            <a:r>
              <a:rPr sz="1875">
                <a:solidFill>
                  <a:srgbClr val="000000"/>
                </a:solidFill>
              </a:rPr>
              <a:t>   Projecte, pràctiques i reflexió</a:t>
            </a:r>
          </a:p>
        </p:txBody>
      </p:sp>
      <p:pic>
        <p:nvPicPr>
          <p:cNvPr id="91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7c08fdc454a75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  <p:extLst>
      <p:ext uri="{BB962C8B-B14F-4D97-AF65-F5344CB8AC3E}">
        <p14:creationId xmlns:p14="http://schemas.microsoft.com/office/powerpoint/2010/main" val="40563295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ED CONNECTA IDEA I PROGRAMARI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710f798744247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3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b0dc1a9c44df0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10652A-D2F7-4D6E-9F31-89B2F970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8B5E3C"/>
                </a:solidFill>
              </a:defRPr>
            </a:pPr>
            <a:r>
              <a:rPr sz="2175" b="1" i="0">
                <a:solidFill>
                  <a:srgbClr val="8B5E3C"/>
                </a:solidFill>
              </a:rPr>
              <a:t>Un projecte web no acaba quan «funciona».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0FA9B6-5985-4765-88AD-C1D4AFB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7239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9CCCDD9-598D-450D-A211-40E81D5D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7239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21094F-A828-40DD-9C41-F1D0630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IDEA</a:t>
            </a:r>
          </a:p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Què volem resoldre?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F41980-8960-4F91-9D2F-A35B4BCF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B5E3C"/>
                </a:solidFill>
              </a:defRPr>
            </a:pPr>
            <a:r>
              <a:rPr sz="1875" b="1" i="0">
                <a:solidFill>
                  <a:srgbClr val="8B5E3C"/>
                </a:solidFill>
              </a:rPr>
              <a:t>SOLUCIÓ</a:t>
            </a:r>
          </a:p>
          <a:p xmlns:a="http://schemas.openxmlformats.org/drawingml/2006/main">
            <a:pPr algn="ctr">
              <a:defRPr sz="1875" b="1" i="0">
                <a:solidFill>
                  <a:srgbClr val="8B5E3C"/>
                </a:solidFill>
              </a:defRPr>
            </a:pPr>
            <a:r>
              <a:rPr sz="1875" b="1" i="0">
                <a:solidFill>
                  <a:srgbClr val="8B5E3C"/>
                </a:solidFill>
              </a:rPr>
              <a:t>Codi + decisions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FBC26C7-5636-4E22-9D5C-929CF8A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F7F6C"/>
                </a:solidFill>
              </a:defRPr>
            </a:pPr>
            <a:r>
              <a:rPr sz="1875" b="1" i="0">
                <a:solidFill>
                  <a:srgbClr val="4F7F6C"/>
                </a:solidFill>
              </a:rPr>
              <a:t>RESULTAT</a:t>
            </a:r>
          </a:p>
          <a:p xmlns:a="http://schemas.openxmlformats.org/drawingml/2006/main">
            <a:pPr algn="ctr">
              <a:defRPr sz="1875" b="1" i="0">
                <a:solidFill>
                  <a:srgbClr val="4F7F6C"/>
                </a:solidFill>
              </a:defRPr>
            </a:pPr>
            <a:r>
              <a:rPr sz="1875" b="1" i="0">
                <a:solidFill>
                  <a:srgbClr val="4F7F6C"/>
                </a:solidFill>
              </a:rPr>
              <a:t>Prova + explicació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E2BB2DC-BDEC-4E65-9DC3-7CFA2E3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ED ens dona el mètode per repetir aquest recorregut amb criteri.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QUÈ APRENDREM EN AQUEST MÒDUL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1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cc935ca5d48be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2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548da9a314a40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B852A7-7317-4740-9FF1-6182F3B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Quatre capacitats que fan més sòlid el treball diari.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BE3C793-05E1-4727-8F5A-B6BE9993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PREPARAR</a:t>
            </a:r>
          </a:p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l'entorn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0BF13D-C75F-4C24-9CB8-8D091075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09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B5E3C"/>
                </a:solidFill>
              </a:defRPr>
            </a:pPr>
            <a:r>
              <a:rPr sz="1875" b="1" i="0">
                <a:solidFill>
                  <a:srgbClr val="8B5E3C"/>
                </a:solidFill>
              </a:rPr>
              <a:t>ORGANITZAR</a:t>
            </a:r>
          </a:p>
          <a:p xmlns:a="http://schemas.openxmlformats.org/drawingml/2006/main">
            <a:pPr algn="ctr">
              <a:defRPr sz="1875" b="1" i="0">
                <a:solidFill>
                  <a:srgbClr val="8B5E3C"/>
                </a:solidFill>
              </a:defRPr>
            </a:pPr>
            <a:r>
              <a:rPr sz="1875" b="1" i="0">
                <a:solidFill>
                  <a:srgbClr val="8B5E3C"/>
                </a:solidFill>
              </a:rPr>
              <a:t>el codi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7C847F-E13E-4F05-A55B-5EED4B1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09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4F7F6C"/>
                </a:solidFill>
              </a:defRPr>
            </a:pPr>
            <a:r>
              <a:rPr sz="1875" b="1" i="0">
                <a:solidFill>
                  <a:srgbClr val="4F7F6C"/>
                </a:solidFill>
              </a:rPr>
              <a:t>VERIFICAR</a:t>
            </a:r>
          </a:p>
          <a:p xmlns:a="http://schemas.openxmlformats.org/drawingml/2006/main">
            <a:pPr algn="ctr">
              <a:defRPr sz="1875" b="1" i="0">
                <a:solidFill>
                  <a:srgbClr val="4F7F6C"/>
                </a:solidFill>
              </a:defRPr>
            </a:pPr>
            <a:r>
              <a:rPr sz="1875" b="1" i="0">
                <a:solidFill>
                  <a:srgbClr val="4F7F6C"/>
                </a:solidFill>
              </a:rPr>
              <a:t>la solució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8AD166-2981-44C0-B377-D510F98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09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DOCUMENTAR</a:t>
            </a:r>
          </a:p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el treball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B4DB88-1B64-4241-B095-56005551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Objectiu: treballar amb criteri, no només amb intuïció.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EL MÈTODE FA AVANÇAR EL CODI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4e3d3f8724f7b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9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d527e64bd4c76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4055AB5-9102-4E2E-96F4-88EA3603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Cada pas deixa una pregunta més clara que l'anterior.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8654DE3-77EC-4C4E-9BF9-C332FF5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E3C"/>
          </a:solidFill>
          <a:ln xmlns:a="http://schemas.openxmlformats.org/drawingml/2006/main" w="0">
            <a:solidFill>
              <a:srgbClr val="8B5E3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76AA893-A239-4E8F-964F-D39861E2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E3C"/>
          </a:solidFill>
          <a:ln xmlns:a="http://schemas.openxmlformats.org/drawingml/2006/main" w="0">
            <a:solidFill>
              <a:srgbClr val="8B5E3C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8FDA7E-BB30-40E4-9A80-5BD9D45E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8763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E3C"/>
          </a:solidFill>
          <a:ln xmlns:a="http://schemas.openxmlformats.org/drawingml/2006/main" w="0">
            <a:solidFill>
              <a:srgbClr val="8B5E3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E8F113-C72B-488E-8F0F-A521FF96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7651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F72500-2900-4D5D-97BF-5DF0FA6B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ANALITZAR</a:t>
            </a:r>
          </a:p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Quin és el problema?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F6C2731-581D-4AF0-8C26-F7F847D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7651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7A4702-371F-4166-AE2E-6EE676D4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IMPLEMENTAR</a:t>
            </a:r>
          </a:p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Quin canvi fem?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9D64EF-5E19-4D9F-A084-48A3A7E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7651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4637104-7724-4F37-B62C-C79B626B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PROVAR</a:t>
            </a:r>
          </a:p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Com ho sabem?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C704207-BA7F-4B3E-BADD-FD4DEB6B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F6C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7651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B1F1B6-6DF4-41FF-90D0-9D25B4C8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MILLORAR</a:t>
            </a:r>
          </a:p>
          <a:p xmlns:a="http://schemas.openxmlformats.org/drawingml/2006/main">
            <a:pPr algn="ctr">
              <a:defRPr sz="1725" b="1" i="0">
                <a:solidFill>
                  <a:srgbClr val="000000"/>
                </a:solidFill>
              </a:defRPr>
            </a:pPr>
            <a:r>
              <a:rPr sz="1725" b="1" i="0">
                <a:solidFill>
                  <a:srgbClr val="000000"/>
                </a:solidFill>
              </a:rPr>
              <a:t>Què aprenem?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E974AF3-7E7B-4674-B768-FF722B4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4E79"/>
                </a:solidFill>
              </a:defRPr>
            </a:pPr>
            <a:r>
              <a:rPr sz="1950" b="1" i="0">
                <a:solidFill>
                  <a:srgbClr val="1F4E79"/>
                </a:solidFill>
              </a:rPr>
              <a:t>El valor no és només arribar: és poder explicar com hi hem arribat.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DE LA TASCA AL LLIURAMENT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6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bd584297241c6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7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7be4128fb40b9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C0BB99E-2503-460E-8006-0C0570F3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Un exemple de flux de treball per a una incidència web.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2C36433-5373-4B2C-B066-6ACC573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575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E6D72D-0209-470F-B281-D22158D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EF50F00-3B46-4926-9345-E065059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C41AD3-E782-45E6-A171-2360FD42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5524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87F94CA-B0DF-49AE-8080-3417E3A7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619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REPRODUIR</a:t>
            </a:r>
          </a:p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l'error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F7842F0-CD84-4B9D-897B-9E19AD2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19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B5E3C"/>
                </a:solidFill>
              </a:defRPr>
            </a:pPr>
            <a:r>
              <a:rPr sz="1650" b="1" i="0">
                <a:solidFill>
                  <a:srgbClr val="8B5E3C"/>
                </a:solidFill>
              </a:rPr>
              <a:t>AÏLLAR</a:t>
            </a:r>
          </a:p>
          <a:p xmlns:a="http://schemas.openxmlformats.org/drawingml/2006/main">
            <a:pPr algn="ctr">
              <a:defRPr sz="1650" b="1" i="0">
                <a:solidFill>
                  <a:srgbClr val="8B5E3C"/>
                </a:solidFill>
              </a:defRPr>
            </a:pPr>
            <a:r>
              <a:rPr sz="1650" b="1" i="0">
                <a:solidFill>
                  <a:srgbClr val="8B5E3C"/>
                </a:solidFill>
              </a:rPr>
              <a:t>la causa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2A828D-D6DA-4BB2-A99E-8C122364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8875"/>
            <a:ext cx="1619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CANVIAR</a:t>
            </a:r>
          </a:p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una cosa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D8EAB20-D5A5-47B2-94FE-E4998537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1619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B5E3C"/>
                </a:solidFill>
              </a:defRPr>
            </a:pPr>
            <a:r>
              <a:rPr sz="1650" b="1" i="0">
                <a:solidFill>
                  <a:srgbClr val="8B5E3C"/>
                </a:solidFill>
              </a:rPr>
              <a:t>PROVAR</a:t>
            </a:r>
          </a:p>
          <a:p xmlns:a="http://schemas.openxmlformats.org/drawingml/2006/main">
            <a:pPr algn="ctr">
              <a:defRPr sz="1650" b="1" i="0">
                <a:solidFill>
                  <a:srgbClr val="8B5E3C"/>
                </a:solidFill>
              </a:defRPr>
            </a:pPr>
            <a:r>
              <a:rPr sz="1650" b="1" i="0">
                <a:solidFill>
                  <a:srgbClr val="8B5E3C"/>
                </a:solidFill>
              </a:rPr>
              <a:t>de nou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925AD8-8EB2-47ED-A511-EC12B5E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1619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EXPLICAR</a:t>
            </a:r>
          </a:p>
          <a:p xmlns:a="http://schemas.openxmlformats.org/drawingml/2006/main">
            <a:pPr algn="ctr">
              <a:defRPr sz="1650" b="1" i="0">
                <a:solidFill>
                  <a:srgbClr val="1F4E79"/>
                </a:solidFill>
              </a:defRPr>
            </a:pPr>
            <a:r>
              <a:rPr sz="1650" b="1" i="0">
                <a:solidFill>
                  <a:srgbClr val="1F4E79"/>
                </a:solidFill>
              </a:rPr>
              <a:t>el resultat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69159D-76CA-4900-A4C1-82317C4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4E79"/>
                </a:solidFill>
              </a:defRPr>
            </a:pPr>
            <a:r>
              <a:rPr sz="1950" b="1" i="0">
                <a:solidFill>
                  <a:srgbClr val="1F4E79"/>
                </a:solidFill>
              </a:rPr>
              <a:t>Una tasca ben tancada deixa una evidència que una altra persona pot entendre.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EXEMPLE: QUAN UNA API NO RESPON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1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b4bf4126148e7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2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2592ac2f4438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AD2942-AEFD-4B97-A47E-39665136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El mateix problema pot generar caos o aprenentatge.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08EB71-3E51-4A3D-AE51-5972C3A9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43815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5543B"/>
          </a:solidFill>
          <a:ln xmlns:a="http://schemas.openxmlformats.org/drawingml/2006/main" w="9525">
            <a:solidFill>
              <a:srgbClr val="B5543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245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SENSE MÈTODE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6582E0-E6BD-401D-98EF-CE41D347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47875"/>
            <a:ext cx="43815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F6C"/>
          </a:solidFill>
          <a:ln xmlns:a="http://schemas.openxmlformats.org/drawingml/2006/main" w="9525">
            <a:solidFill>
              <a:srgbClr val="4F7F6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245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AMB MÈTODE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3618AC3-15C1-40E9-BE19-0C5FACD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4381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5543B"/>
                </a:solidFill>
              </a:defRPr>
            </a:pPr>
            <a:r>
              <a:rPr sz="1725" b="1" i="0">
                <a:solidFill>
                  <a:srgbClr val="B5543B"/>
                </a:solidFill>
              </a:rPr>
              <a:t>Canvie coses a l'atzar</a:t>
            </a:r>
          </a:p>
          <a:p xmlns:a="http://schemas.openxmlformats.org/drawingml/2006/main">
            <a:pPr algn="l">
              <a:defRPr sz="1725" b="1" i="0">
                <a:solidFill>
                  <a:srgbClr val="B5543B"/>
                </a:solidFill>
              </a:defRPr>
            </a:pPr>
            <a:r>
              <a:rPr sz="1725" b="1" i="0">
                <a:solidFill>
                  <a:srgbClr val="B5543B"/>
                </a:solidFill>
              </a:rPr>
              <a:t>No sé quina versió he provat</a:t>
            </a:r>
          </a:p>
          <a:p xmlns:a="http://schemas.openxmlformats.org/drawingml/2006/main">
            <a:pPr algn="l">
              <a:defRPr sz="1725" b="1" i="0">
                <a:solidFill>
                  <a:srgbClr val="B5543B"/>
                </a:solidFill>
              </a:defRPr>
            </a:pPr>
            <a:r>
              <a:rPr sz="1725" b="1" i="0">
                <a:solidFill>
                  <a:srgbClr val="B5543B"/>
                </a:solidFill>
              </a:rPr>
              <a:t>No puc explicar la causa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AACA37-7194-41DA-86C5-D448C274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4381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4F7F6C"/>
                </a:solidFill>
              </a:defRPr>
            </a:pPr>
            <a:r>
              <a:rPr sz="1725" b="1" i="0">
                <a:solidFill>
                  <a:srgbClr val="4F7F6C"/>
                </a:solidFill>
              </a:rPr>
              <a:t>Reproduïsc l'error</a:t>
            </a:r>
          </a:p>
          <a:p xmlns:a="http://schemas.openxmlformats.org/drawingml/2006/main">
            <a:pPr algn="l">
              <a:defRPr sz="1725" b="1" i="0">
                <a:solidFill>
                  <a:srgbClr val="4F7F6C"/>
                </a:solidFill>
              </a:defRPr>
            </a:pPr>
            <a:r>
              <a:rPr sz="1725" b="1" i="0">
                <a:solidFill>
                  <a:srgbClr val="4F7F6C"/>
                </a:solidFill>
              </a:rPr>
              <a:t>Aïlle el canvi</a:t>
            </a:r>
          </a:p>
          <a:p xmlns:a="http://schemas.openxmlformats.org/drawingml/2006/main">
            <a:pPr algn="l">
              <a:defRPr sz="1725" b="1" i="0">
                <a:solidFill>
                  <a:srgbClr val="4F7F6C"/>
                </a:solidFill>
              </a:defRPr>
            </a:pPr>
            <a:r>
              <a:rPr sz="1725" b="1" i="0">
                <a:solidFill>
                  <a:srgbClr val="4F7F6C"/>
                </a:solidFill>
              </a:rPr>
              <a:t>Prove i deixe evidència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5953520-0769-43A6-9D30-DAF35A0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La diferència és el procés, no la sort.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EL RESULTAT HA DE SER REPRODUÏBLE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3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1bac338ea466c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4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200bf96034ebf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2616580-470B-4251-B445-A4BA090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Una solució professional es pot tornar a executar, revisar i explicar.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5F1E94-D7C5-42D6-93BB-951109AC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A98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4B098C8-0DB2-4281-B1C4-7935929A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A98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36440B-3ADD-4725-AB74-6857B787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476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F4E79"/>
                </a:solidFill>
              </a:defRPr>
            </a:pPr>
            <a:r>
              <a:rPr sz="1800" b="1" i="0">
                <a:solidFill>
                  <a:srgbClr val="1F4E79"/>
                </a:solidFill>
              </a:rPr>
              <a:t>ENTORN</a:t>
            </a:r>
          </a:p>
          <a:p xmlns:a="http://schemas.openxmlformats.org/drawingml/2006/main">
            <a:pPr algn="ctr">
              <a:defRPr sz="1800" b="1" i="0">
                <a:solidFill>
                  <a:srgbClr val="1F4E79"/>
                </a:solidFill>
              </a:defRPr>
            </a:pPr>
            <a:r>
              <a:rPr sz="1800" b="1" i="0">
                <a:solidFill>
                  <a:srgbClr val="1F4E79"/>
                </a:solidFill>
              </a:rPr>
              <a:t>mateixes dependències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DB92F4-8DD3-4D79-921F-5D6E63E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2476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B5E3C"/>
                </a:solidFill>
              </a:defRPr>
            </a:pPr>
            <a:r>
              <a:rPr sz="1800" b="1" i="0">
                <a:solidFill>
                  <a:srgbClr val="8B5E3C"/>
                </a:solidFill>
              </a:rPr>
              <a:t>PROCÉS</a:t>
            </a:r>
          </a:p>
          <a:p xmlns:a="http://schemas.openxmlformats.org/drawingml/2006/main">
            <a:pPr algn="ctr">
              <a:defRPr sz="1800" b="1" i="0">
                <a:solidFill>
                  <a:srgbClr val="8B5E3C"/>
                </a:solidFill>
              </a:defRPr>
            </a:pPr>
            <a:r>
              <a:rPr sz="1800" b="1" i="0">
                <a:solidFill>
                  <a:srgbClr val="8B5E3C"/>
                </a:solidFill>
              </a:rPr>
              <a:t>passos repetibles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5CF6682-4076-485C-8977-763A804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476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F7F6C"/>
                </a:solidFill>
              </a:defRPr>
            </a:pPr>
            <a:r>
              <a:rPr sz="1800" b="1" i="0">
                <a:solidFill>
                  <a:srgbClr val="4F7F6C"/>
                </a:solidFill>
              </a:rPr>
              <a:t>EVIDÈNCIA</a:t>
            </a:r>
          </a:p>
          <a:p xmlns:a="http://schemas.openxmlformats.org/drawingml/2006/main">
            <a:pPr algn="ctr">
              <a:defRPr sz="1800" b="1" i="0">
                <a:solidFill>
                  <a:srgbClr val="4F7F6C"/>
                </a:solidFill>
              </a:defRPr>
            </a:pPr>
            <a:r>
              <a:rPr sz="1800" b="1" i="0">
                <a:solidFill>
                  <a:srgbClr val="4F7F6C"/>
                </a:solidFill>
              </a:rPr>
              <a:t>proves i notes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A778A7B-D9AE-485F-9E98-A5152C5F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2476500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4055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SOLUCIÓ</a:t>
            </a:r>
          </a:p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QUE ES POT</a:t>
            </a:r>
          </a:p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DEFENSAR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3F9587-48F2-48A0-9CFC-556BAAC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F4E79"/>
                </a:solidFill>
              </a:defRPr>
            </a:pPr>
            <a:r>
              <a:rPr sz="1875" b="1" i="0">
                <a:solidFill>
                  <a:srgbClr val="1F4E79"/>
                </a:solidFill>
              </a:rPr>
              <a:t>Si una altra persona no pot repetir-ho, encara no està acabat.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TRES ERRORS HABITUALS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3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f2fe49d964f7d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4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94808b616429e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4D4B9A-5201-483E-A661-3AC3E9B0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Tres hàbits que fan més difícil avançar.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F6326C-D492-47FB-B168-F6075FA7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81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543B"/>
                </a:solidFill>
              </a:defRPr>
            </a:pPr>
            <a:r>
              <a:rPr sz="1650" b="1" i="0">
                <a:solidFill>
                  <a:srgbClr val="B5543B"/>
                </a:solidFill>
              </a:rPr>
              <a:t>SALTAR LA PROVA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208D759-1C70-4AC6-86E0-F23DA347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381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F7F6C"/>
                </a:solidFill>
              </a:defRPr>
            </a:pPr>
            <a:r>
              <a:rPr sz="1575" b="1" i="0">
                <a:solidFill>
                  <a:srgbClr val="4F7F6C"/>
                </a:solidFill>
              </a:rPr>
              <a:t>Resposta: verifica abans de donar-ho per bo.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D82D4EB-A265-48CA-93FA-DFA1E92A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381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6946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543B"/>
                </a:solidFill>
              </a:defRPr>
            </a:pPr>
            <a:r>
              <a:rPr sz="1650" b="1" i="0">
                <a:solidFill>
                  <a:srgbClr val="B5543B"/>
                </a:solidFill>
              </a:rPr>
              <a:t>COPIAR SENSE ENTENDRE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A8BBC9-E760-49C1-887E-930D9C62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381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F7F6C"/>
                </a:solidFill>
              </a:defRPr>
            </a:pPr>
            <a:r>
              <a:rPr sz="1575" b="1" i="0">
                <a:solidFill>
                  <a:srgbClr val="4F7F6C"/>
                </a:solidFill>
              </a:rPr>
              <a:t>Resposta: explica què fa cada decisió.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76BF4D-54A0-4543-8ABC-28C206AD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381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76946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543B"/>
                </a:solidFill>
              </a:defRPr>
            </a:pPr>
            <a:r>
              <a:rPr sz="1650" b="1" i="0">
                <a:solidFill>
                  <a:srgbClr val="B5543B"/>
                </a:solidFill>
              </a:rPr>
              <a:t>TREBALLAR SENSE ORDRE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E5FB79E-FA7A-4352-A321-6FBB5D3E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381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F7F6C"/>
                </a:solidFill>
              </a:defRPr>
            </a:pPr>
            <a:r>
              <a:rPr sz="1575" b="1" i="0">
                <a:solidFill>
                  <a:srgbClr val="4F7F6C"/>
                </a:solidFill>
              </a:rPr>
              <a:t>Resposta: deixa passos i versions clares.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9B98AF-FA76-4CC3-9808-EFA663C7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F4E79"/>
                </a:solidFill>
              </a:defRPr>
            </a:pPr>
            <a:r>
              <a:rPr sz="1950" b="1" i="0">
                <a:solidFill>
                  <a:srgbClr val="1F4E79"/>
                </a:solidFill>
              </a:rPr>
              <a:t>L'error és útil quan deixa una pista per a la pròxima decisió.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ACTIVITAT D’ARRANCADA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5f34ae8974860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7a0c2e5d24db4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5446EE-F9B5-4E6C-9F89-76F23D6C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B5E3C"/>
                </a:solidFill>
              </a:defRPr>
            </a:pPr>
            <a:r>
              <a:rPr sz="2100" b="1" i="0">
                <a:solidFill>
                  <a:srgbClr val="8B5E3C"/>
                </a:solidFill>
              </a:rPr>
              <a:t>Situació: un company rep un projecte que no li arranca.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DE1A320-5046-4B2D-8E25-DE18D59C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381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4E79"/>
                </a:solidFill>
              </a:defRPr>
            </a:pPr>
            <a:r>
              <a:rPr sz="1800" b="1" i="0">
                <a:solidFill>
                  <a:srgbClr val="1F4E79"/>
                </a:solidFill>
              </a:rPr>
              <a:t>ABANS DE TOCAR EL CODI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1F4E79"/>
                </a:solidFill>
              </a:defRPr>
            </a:pPr>
            <a:r>
              <a:rPr sz="1800" b="1" i="0">
                <a:solidFill>
                  <a:srgbClr val="1F4E79"/>
                </a:solidFill>
              </a:rPr>
              <a:t>Quines dades necessites?</a:t>
            </a:r>
          </a:p>
          <a:p xmlns:a="http://schemas.openxmlformats.org/drawingml/2006/main">
            <a:pPr algn="l">
              <a:defRPr sz="1800" b="1" i="0">
                <a:solidFill>
                  <a:srgbClr val="1F4E79"/>
                </a:solidFill>
              </a:defRPr>
            </a:pPr>
            <a:r>
              <a:rPr sz="1800" b="1" i="0">
                <a:solidFill>
                  <a:srgbClr val="1F4E79"/>
                </a:solidFill>
              </a:rPr>
              <a:t>Quina evidència demanaries?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E3D7E0A-3DA6-4D8C-B9AA-05BA9BE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381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F7F6C"/>
                </a:solidFill>
              </a:defRPr>
            </a:pPr>
            <a:r>
              <a:rPr sz="1800" b="1" i="0">
                <a:solidFill>
                  <a:srgbClr val="4F7F6C"/>
                </a:solidFill>
              </a:rPr>
              <a:t>PRIMER 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4F7F6C"/>
                </a:solidFill>
              </a:defRPr>
            </a:pPr>
            <a:r>
              <a:rPr sz="1800" b="1" i="0">
                <a:solidFill>
                  <a:srgbClr val="4F7F6C"/>
                </a:solidFill>
              </a:rPr>
              <a:t>Reproduir el problema</a:t>
            </a:r>
          </a:p>
          <a:p xmlns:a="http://schemas.openxmlformats.org/drawingml/2006/main">
            <a:pPr algn="l">
              <a:defRPr sz="1800" b="1" i="0">
                <a:solidFill>
                  <a:srgbClr val="4F7F6C"/>
                </a:solidFill>
              </a:defRPr>
            </a:pPr>
            <a:r>
              <a:rPr sz="1800" b="1" i="0">
                <a:solidFill>
                  <a:srgbClr val="4F7F6C"/>
                </a:solidFill>
              </a:rPr>
              <a:t>amb el mínim de variables.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3023231-E1D8-4C26-8817-A06A13A2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90625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 w="0">
            <a:solidFill>
              <a:srgbClr val="E9713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A7BF13-02EB-425B-9989-D7849D7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Pensa-ho en parelles: què preguntaries primer?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522B45E-8853-4E42-9201-295BEE2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4200"/>
            <a:ext cx="12191760" cy="61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BA95"/>
          </a:solidFill>
          <a:ln xmlns:a="http://schemas.openxmlformats.org/drawingml/2006/main">
            <a:solidFill>
              <a:srgbClr val="EBBA9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D78D42B-3557-40E0-8309-E8362E09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151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6C14"/>
          </a:solidFill>
          <a:ln xmlns:a="http://schemas.openxmlformats.org/drawingml/2006/main">
            <a:solidFill>
              <a:srgbClr val="D36C1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AEC5453-9D55-43B4-BB1E-BCBB51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9040"/>
            <a:ext cx="12191760" cy="6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5C3C"/>
          </a:solidFill>
          <a:ln xmlns:a="http://schemas.openxmlformats.org/drawingml/2006/main">
            <a:solidFill>
              <a:srgbClr val="845C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24480" rIns="90000" bIns="2448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8" name="Título 6">
            <a:extLst xmlns:a="http://schemas.openxmlformats.org/drawingml/2006/main">
              <a:ext uri="{FF2B5EF4-FFF2-40B4-BE49-F238E27FC236}">
                <a16:creationId xmlns:a16="http://schemas.microsoft.com/office/drawing/2014/main" id="{8D222432-456E-4CEE-831D-2DCC929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040" y="289080"/>
            <a:ext cx="8401680" cy="76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</a:pPr>
            <a:r>
              <a:rPr sz="3000" b="1">
                <a:solidFill>
                  <a:srgbClr val="1C4C73"/>
                </a:solidFill>
                <a:latin typeface="Arial"/>
                <a:ea typeface="Arial"/>
                <a:cs typeface="Arial"/>
              </a:rPr>
              <a:t>ED ÉS TREBALLAR AMB CRITERI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0" name="Imagen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d783478704ac5"/>
          <a:stretch xmlns:a="http://schemas.openxmlformats.org/drawingml/2006/main"/>
        </p:blipFill>
        <p:spPr>
          <a:xfrm xmlns:a="http://schemas.openxmlformats.org/drawingml/2006/main">
            <a:off x="5806440" y="6268680"/>
            <a:ext cx="578520" cy="584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01" name="Imagen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c4ced914949ca"/>
          <a:stretch xmlns:a="http://schemas.openxmlformats.org/drawingml/2006/main"/>
        </p:blipFill>
        <p:spPr>
          <a:xfrm xmlns:a="http://schemas.openxmlformats.org/drawingml/2006/main">
            <a:off x="10308600" y="293400"/>
            <a:ext cx="1619640" cy="4298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3B2C6943-802B-06BE-5457-164F2FCE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48520"/>
            <a:ext cx="36370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Presentació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 del curs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ubtítulo 4">
            <a:extLst xmlns:a="http://schemas.openxmlformats.org/drawingml/2006/main">
              <a:ext uri="{FF2B5EF4-FFF2-40B4-BE49-F238E27FC236}">
                <a16:creationId xmlns:a16="http://schemas.microsoft.com/office/drawing/2014/main" id="{8AFE0793-F378-D322-211A-8F0490B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240" y="6244200"/>
            <a:ext cx="37285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DAW 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– 1º </a:t>
            </a:r>
            <a:r>
              <a:rPr sz="2000">
                <a:solidFill>
                  <a:schemeClr val="dk1"/>
                </a:solidFill>
                <a:latin typeface="Arial"/>
                <a:ea typeface="Arial"/>
                <a:cs typeface="Arial"/>
              </a:rPr>
              <a:t>CFGS</a:t>
            </a: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 sz="2000" b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FCC3777-8C5D-4ECF-BF41-F742AA35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8B5E3C"/>
                </a:solidFill>
              </a:defRPr>
            </a:pPr>
            <a:r>
              <a:rPr sz="2025" b="0" i="0">
                <a:solidFill>
                  <a:srgbClr val="8B5E3C"/>
                </a:solidFill>
              </a:rPr>
              <a:t>El curs comença amb tres idees senzilles.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CF7707A-9AF9-4A03-8D67-FE8AC361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476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1</a:t>
            </a:r>
          </a:p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ENTENDRE</a:t>
            </a:r>
          </a:p>
          <a:p xmlns:a="http://schemas.openxmlformats.org/drawingml/2006/main">
            <a:pPr algn="ctr">
              <a:defRPr sz="2025" b="1" i="0">
                <a:solidFill>
                  <a:srgbClr val="1F4E79"/>
                </a:solidFill>
              </a:defRPr>
            </a:pPr>
            <a:r>
              <a:rPr sz="2025" b="1" i="0">
                <a:solidFill>
                  <a:srgbClr val="1F4E79"/>
                </a:solidFill>
              </a:rPr>
              <a:t>què fem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C727CA-A382-4ADA-8F2B-F83F937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476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EE8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B5E3C"/>
                </a:solidFill>
              </a:defRPr>
            </a:pPr>
            <a:r>
              <a:rPr sz="2025" b="1" i="0">
                <a:solidFill>
                  <a:srgbClr val="8B5E3C"/>
                </a:solidFill>
              </a:rPr>
              <a:t>2</a:t>
            </a:r>
          </a:p>
          <a:p xmlns:a="http://schemas.openxmlformats.org/drawingml/2006/main">
            <a:pPr algn="ctr">
              <a:defRPr sz="2025" b="1" i="0">
                <a:solidFill>
                  <a:srgbClr val="8B5E3C"/>
                </a:solidFill>
              </a:defRPr>
            </a:pPr>
            <a:r>
              <a:rPr sz="2025" b="1" i="0">
                <a:solidFill>
                  <a:srgbClr val="8B5E3C"/>
                </a:solidFill>
              </a:rPr>
              <a:t>JUSTIFICAR</a:t>
            </a:r>
          </a:p>
          <a:p xmlns:a="http://schemas.openxmlformats.org/drawingml/2006/main">
            <a:pPr algn="ctr">
              <a:defRPr sz="2025" b="1" i="0">
                <a:solidFill>
                  <a:srgbClr val="8B5E3C"/>
                </a:solidFill>
              </a:defRPr>
            </a:pPr>
            <a:r>
              <a:rPr sz="2025" b="1" i="0">
                <a:solidFill>
                  <a:srgbClr val="8B5E3C"/>
                </a:solidFill>
              </a:rPr>
              <a:t>com ho fem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D28D278-C27F-48FA-AB07-76B0BD07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476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9525">
            <a:solidFill>
              <a:srgbClr val="C9A98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4F7F6C"/>
                </a:solidFill>
              </a:defRPr>
            </a:pPr>
            <a:r>
              <a:rPr sz="2025" b="1" i="0">
                <a:solidFill>
                  <a:srgbClr val="4F7F6C"/>
                </a:solidFill>
              </a:rPr>
              <a:t>3</a:t>
            </a:r>
          </a:p>
          <a:p xmlns:a="http://schemas.openxmlformats.org/drawingml/2006/main">
            <a:pPr algn="ctr">
              <a:defRPr sz="2025" b="1" i="0">
                <a:solidFill>
                  <a:srgbClr val="4F7F6C"/>
                </a:solidFill>
              </a:defRPr>
            </a:pPr>
            <a:r>
              <a:rPr sz="2025" b="1" i="0">
                <a:solidFill>
                  <a:srgbClr val="4F7F6C"/>
                </a:solidFill>
              </a:rPr>
              <a:t>MILLORAR</a:t>
            </a:r>
          </a:p>
          <a:p xmlns:a="http://schemas.openxmlformats.org/drawingml/2006/main">
            <a:pPr algn="ctr">
              <a:defRPr sz="2025" b="1" i="0">
                <a:solidFill>
                  <a:srgbClr val="4F7F6C"/>
                </a:solidFill>
              </a:defRPr>
            </a:pPr>
            <a:r>
              <a:rPr sz="2025" b="1" i="0">
                <a:solidFill>
                  <a:srgbClr val="4F7F6C"/>
                </a:solidFill>
              </a:rPr>
              <a:t>amb evidència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B58E54F-268E-4447-B669-579534B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F4E79"/>
                </a:solidFill>
              </a:defRPr>
            </a:pPr>
            <a:r>
              <a:rPr sz="2250" b="1" i="0">
                <a:solidFill>
                  <a:srgbClr val="1F4E79"/>
                </a:solidFill>
              </a:rPr>
              <a:t>En aquest mòdul, el codi importa; el procés també.</a:t>
            </a:r>
          </a:p>
        </p:txBody>
      </p:sp>
    </p:spTree>
    <p:extLst>
      <p:ext uri="{BB962C8B-B14F-4D97-AF65-F5344CB8AC3E}">
        <p14:creationId xmlns:p14="http://schemas.microsoft.com/office/powerpoint/2010/main" val="20122446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2026-09-09T12:44:19.0470000Z</dcterms:created>
  <dcterms:modified xsi:type="dcterms:W3CDTF">2026-09-09T12:44:19.0470000Z</dcterms:modified>
</coreProperties>
</file>